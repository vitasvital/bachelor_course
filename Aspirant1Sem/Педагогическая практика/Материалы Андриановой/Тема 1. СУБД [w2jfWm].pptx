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74" r:id="rId2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PT Sans" panose="020B0503020203020204" pitchFamily="34" charset="-52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1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5ceRBG48K6NI40Tm9zYJS+wKb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3969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8186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333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3055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5489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8005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364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8652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2574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319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5391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3488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680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0668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1170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4751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242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100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59425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9226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685801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457201" y="1200151"/>
            <a:ext cx="8229601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722314" y="2180036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457202" y="900113"/>
            <a:ext cx="4038599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4648201" y="900113"/>
            <a:ext cx="4038599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457202" y="1151336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57202" y="1631157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4645027" y="1151336"/>
            <a:ext cx="4041774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4645027" y="1631157"/>
            <a:ext cx="4041774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457203" y="204787"/>
            <a:ext cx="3008312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3575051" y="204789"/>
            <a:ext cx="5111749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457203" y="1076327"/>
            <a:ext cx="3008312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1792288" y="459582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2874766" y="-1217413"/>
            <a:ext cx="3394472" cy="822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6012655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821658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457201" y="1200151"/>
            <a:ext cx="8229601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C:\Users\MSShafigullin\Desktop\Проекты\Брендбук\Гайдлайн\Презентация\презентация шаблон КФУ-01.jpg"/>
          <p:cNvPicPr preferRelativeResize="0"/>
          <p:nvPr/>
        </p:nvPicPr>
        <p:blipFill rotWithShape="1">
          <a:blip r:embed="rId3">
            <a:alphaModFix/>
          </a:blip>
          <a:srcRect b="20471"/>
          <a:stretch/>
        </p:blipFill>
        <p:spPr>
          <a:xfrm>
            <a:off x="0" y="1786"/>
            <a:ext cx="9144000" cy="5141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5936" y="555526"/>
            <a:ext cx="1152128" cy="11249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269833" y="2269826"/>
            <a:ext cx="65806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PT Sans"/>
                <a:sym typeface="PT Sans"/>
              </a:rPr>
              <a:t>ТЕХНОЛОГИИ БАЗ ДАННЫХ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>
              <a:solidFill>
                <a:schemeClr val="lt1"/>
              </a:solidFill>
              <a:latin typeface="PT Sans"/>
              <a:sym typeface="PT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91" name="Google Shape;91;p1"/>
          <p:cNvCxnSpPr/>
          <p:nvPr/>
        </p:nvCxnSpPr>
        <p:spPr>
          <a:xfrm rot="10800000">
            <a:off x="2339753" y="2058086"/>
            <a:ext cx="4464495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-2" y="824927"/>
            <a:ext cx="3347865" cy="76925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3347861" y="876972"/>
            <a:ext cx="5256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</a:p>
        </p:txBody>
      </p:sp>
      <p:sp>
        <p:nvSpPr>
          <p:cNvPr id="99" name="Google Shape;99;p2"/>
          <p:cNvSpPr txBox="1"/>
          <p:nvPr/>
        </p:nvSpPr>
        <p:spPr>
          <a:xfrm>
            <a:off x="3486008" y="3212852"/>
            <a:ext cx="5334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Андрианова Анастасия Александровна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Доцент кафедры системного анализа и информационных технологий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https://kpfu.ru/Anastasiya.Andrianova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Anastasiya.Andrianova@kpfu.ru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+7 (843) 233 70 37</a:t>
            </a:r>
          </a:p>
        </p:txBody>
      </p:sp>
      <p:pic>
        <p:nvPicPr>
          <p:cNvPr id="100" name="Google Shape;100;p2" descr="C:\Users\MSShafigullin\Desktop\Проекты\Брендбук\Готовый ББ\Логотипы в png\2_Logo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526" y="1061618"/>
            <a:ext cx="2198807" cy="295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043608" y="95924"/>
            <a:ext cx="734481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Определение базы данных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043607" y="845749"/>
            <a:ext cx="76692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PT Sans"/>
              </a:rPr>
              <a:t>База данных</a:t>
            </a:r>
            <a:r>
              <a:rPr lang="ru-RU" sz="1600" dirty="0">
                <a:latin typeface="PT Sans"/>
              </a:rPr>
              <a:t> – это самодокументированное собрание интегрированных записей. 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Под </a:t>
            </a:r>
            <a:r>
              <a:rPr lang="ru-RU" sz="1600" b="1" dirty="0">
                <a:latin typeface="PT Sans"/>
              </a:rPr>
              <a:t>записью</a:t>
            </a:r>
            <a:r>
              <a:rPr lang="ru-RU" sz="1600" dirty="0">
                <a:latin typeface="PT Sans"/>
              </a:rPr>
              <a:t> понимается совокупность значений об одном объекте, интегрированных в одно целое.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b="1" dirty="0" err="1">
                <a:latin typeface="PT Sans"/>
              </a:rPr>
              <a:t>Самодокументированность</a:t>
            </a:r>
            <a:r>
              <a:rPr lang="ru-RU" sz="1600" dirty="0">
                <a:latin typeface="PT Sans"/>
              </a:rPr>
              <a:t> означает, что вместе с данными база данных хранит и свою структуру, т.е. описание, что хранится и как.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Слово "</a:t>
            </a:r>
            <a:r>
              <a:rPr lang="ru-RU" sz="1600" b="1" dirty="0">
                <a:latin typeface="PT Sans"/>
              </a:rPr>
              <a:t>собрание</a:t>
            </a:r>
            <a:r>
              <a:rPr lang="ru-RU" sz="1600" dirty="0">
                <a:latin typeface="PT Sans"/>
              </a:rPr>
              <a:t>" здесь означает возможное использование различных структур хранения, которые принято называть </a:t>
            </a:r>
            <a:r>
              <a:rPr lang="ru-RU" sz="1600" b="1" dirty="0">
                <a:latin typeface="PT Sans"/>
              </a:rPr>
              <a:t>моделями данных</a:t>
            </a:r>
            <a:r>
              <a:rPr lang="ru-RU" sz="1600" dirty="0">
                <a:latin typeface="PT Sans"/>
              </a:rPr>
              <a:t>.</a:t>
            </a:r>
            <a:r>
              <a:rPr lang="en-US" sz="1600" dirty="0">
                <a:latin typeface="PT Sans"/>
              </a:rPr>
              <a:t> </a:t>
            </a:r>
            <a:endParaRPr lang="ru-RU" sz="1600" dirty="0">
              <a:latin typeface="PT Sans"/>
            </a:endParaRPr>
          </a:p>
          <a:p>
            <a:endParaRPr lang="ru-RU" sz="1600" dirty="0">
              <a:latin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043608" y="95924"/>
            <a:ext cx="7344816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Определение системы управления базами данных (С</a:t>
            </a:r>
            <a:r>
              <a:rPr lang="ru-RU" sz="16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У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БД)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043607" y="845749"/>
            <a:ext cx="766921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PT Sans"/>
              </a:rPr>
              <a:t>Система управления базами данных (СУБД) – </a:t>
            </a:r>
            <a:r>
              <a:rPr lang="ru-RU" sz="1600" dirty="0">
                <a:latin typeface="PT Sans"/>
              </a:rPr>
              <a:t>это набор программных средств (программное обеспечение специального вида).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Предназначено для: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осуществления основных операций с базами данных, 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оптимизации хранения информации;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оптимизации выполнения операции поиска информации в базе;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реализации многопользовательского доступа и т.д. </a:t>
            </a:r>
          </a:p>
        </p:txBody>
      </p:sp>
    </p:spTree>
    <p:extLst>
      <p:ext uri="{BB962C8B-B14F-4D97-AF65-F5344CB8AC3E}">
        <p14:creationId xmlns:p14="http://schemas.microsoft.com/office/powerpoint/2010/main" val="88094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043608" y="95924"/>
            <a:ext cx="7344816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Классификация 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С</a:t>
            </a:r>
            <a:r>
              <a:rPr lang="ru-RU" sz="16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У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БД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043607" y="845749"/>
            <a:ext cx="766921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PT Sans"/>
              </a:rPr>
              <a:t>Основные типы классификации – по архитектуре и по использованным моделям</a:t>
            </a:r>
          </a:p>
          <a:p>
            <a:endParaRPr lang="ru-RU" sz="1600" b="1" dirty="0">
              <a:latin typeface="PT Sans"/>
            </a:endParaRPr>
          </a:p>
          <a:p>
            <a:r>
              <a:rPr lang="ru-RU" sz="1600" b="1" dirty="0">
                <a:latin typeface="PT Sans"/>
              </a:rPr>
              <a:t>Классификация по архитектуре:</a:t>
            </a:r>
          </a:p>
          <a:p>
            <a:endParaRPr lang="ru-RU" sz="1600" b="1" dirty="0">
              <a:latin typeface="PT Sans"/>
            </a:endParaRPr>
          </a:p>
          <a:p>
            <a:r>
              <a:rPr lang="ru-RU" sz="1600" dirty="0">
                <a:latin typeface="PT Sans"/>
              </a:rPr>
              <a:t> - Файловые </a:t>
            </a:r>
            <a:r>
              <a:rPr lang="en-US" sz="1600" dirty="0">
                <a:latin typeface="PT Sans"/>
              </a:rPr>
              <a:t>(</a:t>
            </a:r>
            <a:r>
              <a:rPr lang="ru-RU" sz="1600" dirty="0">
                <a:latin typeface="PT Sans"/>
              </a:rPr>
              <a:t>встроенные) СУБД:</a:t>
            </a:r>
          </a:p>
          <a:p>
            <a:r>
              <a:rPr lang="ru-RU" sz="1600" dirty="0">
                <a:latin typeface="PT Sans"/>
              </a:rPr>
              <a:t>	- </a:t>
            </a:r>
            <a:r>
              <a:rPr lang="en-US" sz="1600" dirty="0">
                <a:latin typeface="PT Sans"/>
              </a:rPr>
              <a:t>Microsoft Access</a:t>
            </a:r>
          </a:p>
          <a:p>
            <a:r>
              <a:rPr lang="en-US" sz="1600" dirty="0">
                <a:latin typeface="PT Sans"/>
              </a:rPr>
              <a:t>	- SQLite</a:t>
            </a:r>
          </a:p>
          <a:p>
            <a:endParaRPr lang="en-US" sz="1600" dirty="0">
              <a:latin typeface="PT Sans"/>
            </a:endParaRP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Серверные СУБД:</a:t>
            </a:r>
          </a:p>
          <a:p>
            <a:r>
              <a:rPr lang="ru-RU" sz="1600" dirty="0">
                <a:latin typeface="PT Sans"/>
              </a:rPr>
              <a:t>	- </a:t>
            </a:r>
            <a:r>
              <a:rPr lang="en-US" sz="1600" dirty="0">
                <a:latin typeface="PT Sans"/>
              </a:rPr>
              <a:t>Oracle</a:t>
            </a:r>
          </a:p>
          <a:p>
            <a:r>
              <a:rPr lang="en-US" sz="1600" dirty="0">
                <a:latin typeface="PT Sans"/>
              </a:rPr>
              <a:t>	- Microsoft SQL Server</a:t>
            </a:r>
          </a:p>
          <a:p>
            <a:r>
              <a:rPr lang="en-US" sz="1600" dirty="0">
                <a:latin typeface="PT Sans"/>
              </a:rPr>
              <a:t>	- MySQL</a:t>
            </a:r>
          </a:p>
          <a:p>
            <a:r>
              <a:rPr lang="en-US" sz="1600" dirty="0">
                <a:latin typeface="PT Sans"/>
              </a:rPr>
              <a:t>	- PostgreSQL</a:t>
            </a:r>
            <a:endParaRPr lang="ru-RU" sz="1600" dirty="0"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185308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043608" y="9592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Классификация 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моделей данных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043607" y="845749"/>
            <a:ext cx="766921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PT Sans"/>
              </a:rPr>
              <a:t>Основное различие – разные принципы организации хранения данных</a:t>
            </a:r>
          </a:p>
          <a:p>
            <a:endParaRPr lang="ru-RU" sz="1600" b="1" dirty="0">
              <a:latin typeface="PT Sans"/>
            </a:endParaRP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Иерархическая модель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Сетевая модель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Реляционная модель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Объектная модель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Объектно-реляционная модель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PT Sans"/>
              </a:rPr>
              <a:t>NoSQL-</a:t>
            </a:r>
            <a:r>
              <a:rPr lang="ru-RU" sz="1600" dirty="0">
                <a:latin typeface="PT Sans"/>
              </a:rPr>
              <a:t>модели:</a:t>
            </a:r>
          </a:p>
          <a:p>
            <a:pPr lvl="3"/>
            <a:r>
              <a:rPr lang="ru-RU" sz="1600" dirty="0">
                <a:latin typeface="PT Sans"/>
              </a:rPr>
              <a:t>	- </a:t>
            </a:r>
            <a:r>
              <a:rPr lang="ru-RU" sz="1600" dirty="0" err="1">
                <a:latin typeface="PT Sans"/>
              </a:rPr>
              <a:t>графовая</a:t>
            </a:r>
            <a:r>
              <a:rPr lang="ru-RU" sz="1600" dirty="0">
                <a:latin typeface="PT Sans"/>
              </a:rPr>
              <a:t> модель</a:t>
            </a:r>
          </a:p>
          <a:p>
            <a:pPr lvl="3"/>
            <a:r>
              <a:rPr lang="ru-RU" sz="1600" dirty="0">
                <a:latin typeface="PT Sans"/>
              </a:rPr>
              <a:t>	- агрегатные модели:</a:t>
            </a:r>
          </a:p>
          <a:p>
            <a:pPr lvl="3"/>
            <a:r>
              <a:rPr lang="ru-RU" sz="1600" dirty="0">
                <a:latin typeface="PT Sans"/>
              </a:rPr>
              <a:t>		- модель «Ключ-Значение»</a:t>
            </a:r>
          </a:p>
          <a:p>
            <a:pPr lvl="3"/>
            <a:r>
              <a:rPr lang="ru-RU" sz="1600" dirty="0">
                <a:latin typeface="PT Sans"/>
              </a:rPr>
              <a:t>  		- </a:t>
            </a:r>
            <a:r>
              <a:rPr lang="ru-RU" sz="1600" dirty="0" err="1">
                <a:latin typeface="PT Sans"/>
              </a:rPr>
              <a:t>документоориентированная</a:t>
            </a:r>
            <a:r>
              <a:rPr lang="ru-RU" sz="1600" dirty="0">
                <a:latin typeface="PT Sans"/>
              </a:rPr>
              <a:t> модель</a:t>
            </a:r>
          </a:p>
          <a:p>
            <a:pPr lvl="3"/>
            <a:r>
              <a:rPr lang="ru-RU" sz="1600" dirty="0">
                <a:latin typeface="PT Sans"/>
              </a:rPr>
              <a:t>		- модель «Семейство столбцов»</a:t>
            </a:r>
          </a:p>
        </p:txBody>
      </p:sp>
    </p:spTree>
    <p:extLst>
      <p:ext uri="{BB962C8B-B14F-4D97-AF65-F5344CB8AC3E}">
        <p14:creationId xmlns:p14="http://schemas.microsoft.com/office/powerpoint/2010/main" val="302173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043608" y="9592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Рейтинг СУБД – </a:t>
            </a:r>
            <a:r>
              <a:rPr lang="en-US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DB-Engines (https://db-engines.com/en/ranking)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043607" y="845749"/>
            <a:ext cx="7669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PT Sans"/>
              </a:rPr>
              <a:t>Рейтинг основан на популярности использования разных СУБД в реально используемых приложениях.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D55D77-97AB-A12B-DB45-3803038720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600" y="1507817"/>
            <a:ext cx="7092816" cy="339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1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043608" y="9592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Историческая справка – возникновение технологии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043607" y="845749"/>
            <a:ext cx="76692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PT Sans"/>
              </a:rPr>
              <a:t>60-е года XX века – использование для хранения текстовых файлов. </a:t>
            </a:r>
          </a:p>
          <a:p>
            <a:r>
              <a:rPr lang="ru-RU" sz="1600" dirty="0">
                <a:latin typeface="PT Sans"/>
              </a:rPr>
              <a:t>На конференции "Conference </a:t>
            </a:r>
            <a:r>
              <a:rPr lang="ru-RU" sz="1600" dirty="0" err="1">
                <a:latin typeface="PT Sans"/>
              </a:rPr>
              <a:t>on</a:t>
            </a:r>
            <a:r>
              <a:rPr lang="ru-RU" sz="1600" dirty="0">
                <a:latin typeface="PT Sans"/>
              </a:rPr>
              <a:t> Data </a:t>
            </a:r>
            <a:r>
              <a:rPr lang="ru-RU" sz="1600" dirty="0" err="1">
                <a:latin typeface="PT Sans"/>
              </a:rPr>
              <a:t>Syste</a:t>
            </a:r>
            <a:r>
              <a:rPr lang="en-US" sz="1600" dirty="0">
                <a:latin typeface="PT Sans"/>
              </a:rPr>
              <a:t>m</a:t>
            </a:r>
            <a:r>
              <a:rPr lang="ru-RU" sz="1600" dirty="0">
                <a:latin typeface="PT Sans"/>
              </a:rPr>
              <a:t> </a:t>
            </a:r>
            <a:r>
              <a:rPr lang="ru-RU" sz="1600" dirty="0" err="1">
                <a:latin typeface="PT Sans"/>
              </a:rPr>
              <a:t>Languages</a:t>
            </a:r>
            <a:r>
              <a:rPr lang="ru-RU" sz="1600" dirty="0">
                <a:latin typeface="PT Sans"/>
              </a:rPr>
              <a:t>" (1965 г.) была создана рабочая группа по разработке спецификации единой среды работы с данными.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Отчет этой группы (1971 г.) выделил следующие компоненты такого программного обеспечения: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сетевая схема (организация базы данных в целом как она хранится);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подсхема (та часть базы данных, которая видна пользователю/клиентским приложениям);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язык управления данными, в котором выделены части - язык определения данных (описание структуры данных ) и язык манипулирования данными (управление самими данными).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СУБД , построенные на основе этой архитектуры, стали </a:t>
            </a:r>
            <a:r>
              <a:rPr lang="ru-RU" sz="1600" b="1" dirty="0">
                <a:latin typeface="PT Sans"/>
              </a:rPr>
              <a:t>СУБД первого поколения</a:t>
            </a:r>
            <a:r>
              <a:rPr lang="ru-RU" sz="1600" dirty="0">
                <a:latin typeface="PT Sans"/>
              </a:rPr>
              <a:t>, в которых за основу были взяты </a:t>
            </a:r>
            <a:r>
              <a:rPr lang="ru-RU" sz="1600" b="1" dirty="0">
                <a:latin typeface="PT Sans"/>
              </a:rPr>
              <a:t>иерархическая</a:t>
            </a:r>
            <a:r>
              <a:rPr lang="ru-RU" sz="1600" dirty="0">
                <a:latin typeface="PT Sans"/>
              </a:rPr>
              <a:t> и</a:t>
            </a:r>
            <a:r>
              <a:rPr lang="ru-RU" sz="1600" b="1" dirty="0">
                <a:latin typeface="PT Sans"/>
              </a:rPr>
              <a:t> сетевая </a:t>
            </a:r>
            <a:r>
              <a:rPr lang="ru-RU" sz="1600" dirty="0">
                <a:latin typeface="PT Sans"/>
              </a:rPr>
              <a:t>модели данных</a:t>
            </a:r>
            <a:r>
              <a:rPr lang="ru-RU" sz="1600" b="1" dirty="0">
                <a:latin typeface="PT Sans"/>
              </a:rPr>
              <a:t>.</a:t>
            </a:r>
            <a:endParaRPr lang="ru-RU" sz="1600" dirty="0"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3193844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043608" y="9592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Историческая справка – 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СУБД второго поколения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043607" y="723829"/>
            <a:ext cx="766921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PT Sans"/>
              </a:rPr>
              <a:t>В 70-х годах XX века Эдгар Кодд создал теорию реляционных моделей данных, которые стали стандартом для СУБД второго поколения.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Реляционные СУБД являются одним из самых популярных типов СУБД в том числе и на текущий момент.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Именно для этой модели был создал язык SQL (</a:t>
            </a:r>
            <a:r>
              <a:rPr lang="ru-RU" sz="1600" dirty="0" err="1">
                <a:latin typeface="PT Sans"/>
              </a:rPr>
              <a:t>Structured</a:t>
            </a:r>
            <a:r>
              <a:rPr lang="ru-RU" sz="1600" dirty="0">
                <a:latin typeface="PT Sans"/>
              </a:rPr>
              <a:t> </a:t>
            </a:r>
            <a:r>
              <a:rPr lang="ru-RU" sz="1600" dirty="0" err="1">
                <a:latin typeface="PT Sans"/>
              </a:rPr>
              <a:t>Query</a:t>
            </a:r>
            <a:r>
              <a:rPr lang="ru-RU" sz="1600" dirty="0">
                <a:latin typeface="PT Sans"/>
              </a:rPr>
              <a:t> Language), который поддерживается всеми реляционными СУБД.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В 1976 году Питер Чен представил модель "сущность-связь" (ER-модель). Модель формировалась для целей создания объектно-ориентированных программ и представления в них сложных структурированных данных.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Получила популярность как практический прием проектирования реляционной модели данных.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Наиболее популярные представители – </a:t>
            </a:r>
            <a:r>
              <a:rPr lang="en-US" sz="1600" dirty="0">
                <a:latin typeface="PT Sans"/>
              </a:rPr>
              <a:t>Oracle, MySQL, PostgreSQL</a:t>
            </a:r>
            <a:endParaRPr lang="ru-RU" sz="1600" dirty="0"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220142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043608" y="9592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Историческая справка – 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СУБД третьего поколения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678924"/>
            <a:ext cx="76692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PT Sans"/>
              </a:rPr>
              <a:t>В 80-х и 90-х годах XX века в связи с популярностью объектно-ориентированных средств разработки программного обеспечения была волна создания СУБД третьего поколения, которые основывались на объектно-ориентированной концепции построения модели данных. </a:t>
            </a:r>
          </a:p>
          <a:p>
            <a:endParaRPr lang="ru-RU" sz="1600" dirty="0">
              <a:latin typeface="PT Sans"/>
            </a:endParaRP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Однако серьезной популярности данная модель не получила.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Трансформировали в объектно-реляционную модель, совмещающую в себе черты обеих моделей.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Наиболее популярные представители – </a:t>
            </a:r>
            <a:r>
              <a:rPr lang="en-US" sz="1600" dirty="0">
                <a:latin typeface="PT Sans"/>
              </a:rPr>
              <a:t>Oracle, PostgreSQL.</a:t>
            </a:r>
            <a:endParaRPr lang="ru-RU" sz="1600" dirty="0"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232449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Историческая справка – форматы хранения структурированных данных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678924"/>
            <a:ext cx="76692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PT Sans"/>
              </a:rPr>
              <a:t>В конце XX века для представления структурированных данных стали использовать различные специфические форматы текстовых файлов:</a:t>
            </a:r>
          </a:p>
          <a:p>
            <a:endParaRPr lang="ru-RU" sz="1600" dirty="0">
              <a:latin typeface="PT Sans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PT Sans"/>
              </a:rPr>
              <a:t>csv </a:t>
            </a:r>
            <a:r>
              <a:rPr lang="ru-RU" sz="1600" dirty="0">
                <a:latin typeface="PT Sans"/>
              </a:rPr>
              <a:t>(</a:t>
            </a:r>
            <a:r>
              <a:rPr lang="en-US" sz="1600" dirty="0">
                <a:latin typeface="PT Sans"/>
              </a:rPr>
              <a:t>Comma-Separated Values — </a:t>
            </a:r>
            <a:r>
              <a:rPr lang="ru-RU" sz="1600" dirty="0">
                <a:latin typeface="PT Sans"/>
              </a:rPr>
              <a:t>значения, разделённые запятыми);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PT Sans"/>
              </a:rPr>
              <a:t>xml (</a:t>
            </a:r>
            <a:r>
              <a:rPr lang="en-US" sz="1600" dirty="0" err="1">
                <a:latin typeface="PT Sans"/>
              </a:rPr>
              <a:t>eXtensible</a:t>
            </a:r>
            <a:r>
              <a:rPr lang="en-US" sz="1600" dirty="0">
                <a:latin typeface="PT Sans"/>
              </a:rPr>
              <a:t> Markup Language — </a:t>
            </a:r>
            <a:r>
              <a:rPr lang="ru-RU" sz="1600" dirty="0">
                <a:latin typeface="PT Sans"/>
              </a:rPr>
              <a:t>расширяемый язык разметки</a:t>
            </a:r>
            <a:r>
              <a:rPr lang="en-US" sz="1600" dirty="0">
                <a:latin typeface="PT Sans"/>
              </a:rPr>
              <a:t>)</a:t>
            </a:r>
            <a:r>
              <a:rPr lang="ru-RU" sz="1600" dirty="0">
                <a:latin typeface="PT Sans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en-US" sz="1600" dirty="0" err="1">
                <a:latin typeface="PT Sans"/>
              </a:rPr>
              <a:t>json</a:t>
            </a:r>
            <a:r>
              <a:rPr lang="en-US" sz="1600" dirty="0">
                <a:latin typeface="PT Sans"/>
              </a:rPr>
              <a:t> (JavaScript Object Notation – </a:t>
            </a:r>
            <a:r>
              <a:rPr lang="ru-RU" sz="1600" dirty="0">
                <a:latin typeface="PT Sans"/>
              </a:rPr>
              <a:t>описание объекта на языке </a:t>
            </a:r>
            <a:r>
              <a:rPr lang="en-US" sz="1600" dirty="0">
                <a:latin typeface="PT Sans"/>
              </a:rPr>
              <a:t>JavaScript)</a:t>
            </a:r>
            <a:r>
              <a:rPr lang="ru-RU" sz="1600" dirty="0">
                <a:latin typeface="PT Sans"/>
              </a:rPr>
              <a:t>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Общие принципы доступа к данным этих форматов напоминают принципы управления данными в СУБД.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Используются: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в качестве альтернативного способа хранения структурированной информации для малых объемов данных;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в качестве средства импорта и экспорта данных между различными базами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483265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Историческая справка – СУБД четвертого поколения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1044684"/>
            <a:ext cx="76692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PT Sans"/>
              </a:rPr>
              <a:t>В XXI веке появилась так называемые </a:t>
            </a:r>
            <a:r>
              <a:rPr lang="ru-RU" sz="1600" dirty="0" err="1">
                <a:latin typeface="PT Sans"/>
              </a:rPr>
              <a:t>NoSQL</a:t>
            </a:r>
            <a:r>
              <a:rPr lang="ru-RU" sz="1600" dirty="0">
                <a:latin typeface="PT Sans"/>
              </a:rPr>
              <a:t> базы данных (</a:t>
            </a:r>
            <a:r>
              <a:rPr lang="ru-RU" sz="1600" dirty="0" err="1">
                <a:latin typeface="PT Sans"/>
              </a:rPr>
              <a:t>неряляционные</a:t>
            </a:r>
            <a:r>
              <a:rPr lang="ru-RU" sz="1600" dirty="0">
                <a:latin typeface="PT Sans"/>
              </a:rPr>
              <a:t> или </a:t>
            </a:r>
            <a:r>
              <a:rPr lang="ru-RU" sz="1600" dirty="0" err="1">
                <a:latin typeface="PT Sans"/>
              </a:rPr>
              <a:t>постреляционные</a:t>
            </a:r>
            <a:r>
              <a:rPr lang="ru-RU" sz="1600" dirty="0">
                <a:latin typeface="PT Sans"/>
              </a:rPr>
              <a:t>), которые можно назвать СУБД четвертого поколения.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В основе этих подходов лежат принципы оптимизации работы с большими объемами данных, в том числе с распределенными базами данных.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Виды </a:t>
            </a:r>
            <a:r>
              <a:rPr lang="en-US" sz="1600" dirty="0">
                <a:latin typeface="PT Sans"/>
              </a:rPr>
              <a:t>NoSQL-</a:t>
            </a:r>
            <a:r>
              <a:rPr lang="ru-RU" sz="1600" dirty="0">
                <a:latin typeface="PT Sans"/>
              </a:rPr>
              <a:t>СУБД:</a:t>
            </a:r>
            <a:endParaRPr lang="en-US" sz="1600" dirty="0">
              <a:latin typeface="PT Sans"/>
            </a:endParaRPr>
          </a:p>
          <a:p>
            <a:pPr marL="285750" indent="-285750">
              <a:buFontTx/>
              <a:buChar char="-"/>
            </a:pPr>
            <a:r>
              <a:rPr lang="ru-RU" sz="1600" dirty="0" err="1">
                <a:latin typeface="PT Sans"/>
              </a:rPr>
              <a:t>Графовые</a:t>
            </a:r>
            <a:r>
              <a:rPr lang="ru-RU" sz="1600" dirty="0">
                <a:latin typeface="PT Sans"/>
              </a:rPr>
              <a:t> СУБД (например, </a:t>
            </a:r>
            <a:r>
              <a:rPr lang="en-US" sz="1600" dirty="0">
                <a:latin typeface="PT Sans"/>
              </a:rPr>
              <a:t>Neo4J)</a:t>
            </a:r>
            <a:r>
              <a:rPr lang="ru-RU" sz="1600" dirty="0">
                <a:latin typeface="PT Sans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ru-RU" sz="1600" dirty="0" err="1">
                <a:latin typeface="PT Sans"/>
              </a:rPr>
              <a:t>Документоориентированные</a:t>
            </a:r>
            <a:r>
              <a:rPr lang="ru-RU" sz="1600" dirty="0">
                <a:latin typeface="PT Sans"/>
              </a:rPr>
              <a:t> СУБД (например, </a:t>
            </a:r>
            <a:r>
              <a:rPr lang="en-US" sz="1600" dirty="0">
                <a:latin typeface="PT Sans"/>
              </a:rPr>
              <a:t>MongoDB)</a:t>
            </a:r>
            <a:r>
              <a:rPr lang="ru-RU" sz="1600" dirty="0">
                <a:latin typeface="PT Sans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СУБД типа «Ключ-Значение» (например, </a:t>
            </a:r>
            <a:r>
              <a:rPr lang="en-US" sz="1600" dirty="0">
                <a:latin typeface="PT Sans"/>
              </a:rPr>
              <a:t>Redis)</a:t>
            </a:r>
            <a:r>
              <a:rPr lang="ru-RU" sz="1600" dirty="0">
                <a:latin typeface="PT Sans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PT Sans"/>
              </a:rPr>
              <a:t>СУБД типа «Семейство столбцов» (например, </a:t>
            </a:r>
            <a:r>
              <a:rPr lang="en-US" sz="1600" dirty="0">
                <a:latin typeface="PT Sans"/>
              </a:rPr>
              <a:t>Cassandra)</a:t>
            </a:r>
            <a:r>
              <a:rPr lang="ru-RU" sz="1600" dirty="0">
                <a:latin typeface="PT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333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Архитектура приложений по работе с базами данных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715500"/>
            <a:ext cx="766921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PT Sans"/>
              </a:rPr>
              <a:t>Большинство СУБД являются серверными.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СУБД расположена на отдельном сервере и хранит много различных баз данных для разных приложений. </a:t>
            </a:r>
          </a:p>
          <a:p>
            <a:endParaRPr lang="ru-RU" sz="1600" dirty="0">
              <a:latin typeface="PT Sans"/>
            </a:endParaRPr>
          </a:p>
          <a:p>
            <a:r>
              <a:rPr lang="ru-RU" sz="1600" dirty="0">
                <a:latin typeface="PT Sans"/>
              </a:rPr>
              <a:t>Конкретный пользователь или разные прикладные программы, которым требуются данные из базы данных, обращаются к СУБД за необходимыми данными и получают их.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FC50AD-D7C7-346F-B424-94A91ACCEA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5920" y="2665390"/>
            <a:ext cx="4038950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39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Многоуровневая архитектура приложений по работе с базами данных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1178796"/>
            <a:ext cx="76692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Приложение (информационная система) по работе с базой данных будет распределенным.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Все задачи по работе с базой данных распределяются по уровням:</a:t>
            </a:r>
          </a:p>
          <a:p>
            <a:endParaRPr lang="ru-RU" sz="1800" dirty="0">
              <a:latin typeface="PT Sans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Уровень базы данных;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Уровень СУБД;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Уровень приложения.</a:t>
            </a:r>
          </a:p>
          <a:p>
            <a:pPr marL="285750" indent="-285750">
              <a:buFontTx/>
              <a:buChar char="-"/>
            </a:pPr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Аналогия с архитектурой </a:t>
            </a:r>
            <a:r>
              <a:rPr lang="en-US" sz="1800" dirty="0">
                <a:latin typeface="PT Sans"/>
              </a:rPr>
              <a:t>MVC (Model-View-Controller)</a:t>
            </a:r>
            <a:r>
              <a:rPr lang="ru-RU" sz="1800" dirty="0">
                <a:latin typeface="PT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048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Задачи уровня базы данных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715500"/>
            <a:ext cx="76692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Уровень базы данных:</a:t>
            </a:r>
          </a:p>
          <a:p>
            <a:endParaRPr lang="ru-RU" sz="1800" dirty="0">
              <a:latin typeface="PT Sans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хранение необходимых пользователю данных;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хранение метаданных (данные о структуре данных);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хранение вспомогательных структур данных (например, индексов для оптимизации поиска);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хранение хранимых процедур (специальные программные утилиты, например, удаление, архивация и пр.);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хранение триггеров (хранимые процедуры специального вида, которые вызываются автоматически в определенные моменты времени как реакция на изменение данных).</a:t>
            </a:r>
          </a:p>
        </p:txBody>
      </p:sp>
    </p:spTree>
    <p:extLst>
      <p:ext uri="{BB962C8B-B14F-4D97-AF65-F5344CB8AC3E}">
        <p14:creationId xmlns:p14="http://schemas.microsoft.com/office/powerpoint/2010/main" val="1292015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Задачи уровня 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СУБД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715500"/>
            <a:ext cx="76692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Уровень СУБД:</a:t>
            </a:r>
          </a:p>
          <a:p>
            <a:endParaRPr lang="ru-RU" sz="1800" dirty="0">
              <a:latin typeface="PT Sans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обеспечение создания базы данных и ее элементов;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обеспечение доступа к базе данных и выполнения всех основных операций с данными (добавление новых данных, изменение существующих, удаление данных и поиск – </a:t>
            </a:r>
            <a:r>
              <a:rPr lang="en-US" sz="1800" dirty="0">
                <a:latin typeface="PT Sans"/>
              </a:rPr>
              <a:t>CRUD (Create, Read, Update, Delete</a:t>
            </a:r>
            <a:r>
              <a:rPr lang="ru-RU" sz="1800" dirty="0">
                <a:latin typeface="PT Sans"/>
              </a:rPr>
              <a:t>);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реализация поддерживающих структур данных (индексов); 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управление параллельным доступом (для предотвращения одновременного доступа к одним и тем же данным различных пользователей), 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резервное копирование и пр.</a:t>
            </a:r>
          </a:p>
        </p:txBody>
      </p:sp>
    </p:spTree>
    <p:extLst>
      <p:ext uri="{BB962C8B-B14F-4D97-AF65-F5344CB8AC3E}">
        <p14:creationId xmlns:p14="http://schemas.microsoft.com/office/powerpoint/2010/main" val="1439325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Задачи уровня 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приложения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715500"/>
            <a:ext cx="7669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Уровень клиентского приложения – обеспечение удобного пользовательского интерфейса:</a:t>
            </a:r>
          </a:p>
          <a:p>
            <a:endParaRPr lang="ru-RU" sz="1800" dirty="0">
              <a:latin typeface="PT Sans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поддержка бизнес-логики приложения;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создание пользовательских форм для удобного ввода информации и предоставления информации пользователю; 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создание отчетов;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организация и отсылка на уровень СУБД запросов к базе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033773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Эволюция моделей данных – иерархическая модель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15479" y="715500"/>
            <a:ext cx="76692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В иерархической модели основное представление данных – иерархическое дерево, в котором определено отношение «предок-потомок». </a:t>
            </a:r>
          </a:p>
          <a:p>
            <a:r>
              <a:rPr lang="ru-RU" sz="1800" dirty="0">
                <a:latin typeface="PT Sans"/>
              </a:rPr>
              <a:t>Выделяются три понятия: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Атрибут – наименьшая единица структуры хранимых данных (элемент). Имеет имя, по которому к нему можно обращаться. С помощью атрибутов осуществляется хранение одного свойства объекта.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Запись – именованная совокупность атрибутов, описывающая объект. Запись хранится в узлах дерева.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Групповое отношение – иерархическое отношение между записями двух видов. Именно оно представляется в виде дерева.</a:t>
            </a:r>
          </a:p>
        </p:txBody>
      </p:sp>
    </p:spTree>
    <p:extLst>
      <p:ext uri="{BB962C8B-B14F-4D97-AF65-F5344CB8AC3E}">
        <p14:creationId xmlns:p14="http://schemas.microsoft.com/office/powerpoint/2010/main" val="3763254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Эволюция моделей данных – недостаток иерархической модели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87010" y="628847"/>
            <a:ext cx="766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Главный недостаток иерархической модели данных– большое количество дублированной информации.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0280AF-17D9-0D13-5767-78679B713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3768" y="1487076"/>
            <a:ext cx="5624047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62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Эволюция моделей данных – сетевая модель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87010" y="628847"/>
            <a:ext cx="76692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В сетевой модели были разрешены горизонтальные связи, за счет чего удалось избежать дублирования. 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Однако возник другой недостаток, связанный со сложным алгоритмом обхода структур данных, что также не способствовало популяризации и развитию данного подхода.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A11834-4929-6613-9528-21BDEA8EF4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983" y="2427970"/>
            <a:ext cx="5762832" cy="208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81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Эволюция моделей данных – реляционная модель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87010" y="628847"/>
            <a:ext cx="76692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В основе реляционного подхода представление данных в виде набора взаимосвязанных таблиц. 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Взаимосвязь организуется посредством дублирования отдельных связующих полей в таблице. 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Теоретическая основа реляционной модели данных, предложенная Коддом, обусловила популярность данной модели в практическом использовании. 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Реляционная модель является универсальной, подходит для данных любой сложности и объема.</a:t>
            </a:r>
          </a:p>
        </p:txBody>
      </p:sp>
    </p:spTree>
    <p:extLst>
      <p:ext uri="{BB962C8B-B14F-4D97-AF65-F5344CB8AC3E}">
        <p14:creationId xmlns:p14="http://schemas.microsoft.com/office/powerpoint/2010/main" val="3498456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Эволюция моделей данных – </a:t>
            </a:r>
            <a:r>
              <a:rPr lang="en-US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NoSQL</a:t>
            </a:r>
            <a:r>
              <a:rPr lang="ru-RU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-модели данных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87010" y="909263"/>
            <a:ext cx="76692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err="1">
                <a:latin typeface="PT Sans"/>
              </a:rPr>
              <a:t>NoSQL</a:t>
            </a:r>
            <a:r>
              <a:rPr lang="ru-RU" sz="1800" dirty="0">
                <a:latin typeface="PT Sans"/>
              </a:rPr>
              <a:t> (</a:t>
            </a:r>
            <a:r>
              <a:rPr lang="ru-RU" sz="1800" dirty="0" err="1">
                <a:latin typeface="PT Sans"/>
              </a:rPr>
              <a:t>Not</a:t>
            </a:r>
            <a:r>
              <a:rPr lang="ru-RU" sz="1800" dirty="0">
                <a:latin typeface="PT Sans"/>
              </a:rPr>
              <a:t> Only SQL) модели данных появились как реакция на распространение распределенных баз данных, хранящих информацию на нескольких серверах. 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Требовалось сохранять информацию так, чтобы для хранения связанной информации задействовалось меньшее число серверов. </a:t>
            </a:r>
          </a:p>
          <a:p>
            <a:endParaRPr lang="ru-RU" sz="1800" dirty="0">
              <a:latin typeface="PT Sans"/>
            </a:endParaRPr>
          </a:p>
          <a:p>
            <a:r>
              <a:rPr lang="ru-RU" sz="1800" dirty="0">
                <a:latin typeface="PT Sans"/>
              </a:rPr>
              <a:t>Такие модели не являются универсальными, но для каждой такой модели есть случаи, когда их использование рекомендуется для повышение эффективности доступа к данным.</a:t>
            </a:r>
          </a:p>
        </p:txBody>
      </p:sp>
    </p:spTree>
    <p:extLst>
      <p:ext uri="{BB962C8B-B14F-4D97-AF65-F5344CB8AC3E}">
        <p14:creationId xmlns:p14="http://schemas.microsoft.com/office/powerpoint/2010/main" val="158216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5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115479" y="104354"/>
            <a:ext cx="73448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Системы управления базами данных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Выводы</a:t>
            </a:r>
            <a:endParaRPr sz="14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9" name="Google Shape;109;p3" descr="C:\Users\MSShafigullin\Desktop\Проекты\Презентация по ДК\q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087" y="4422472"/>
            <a:ext cx="353386" cy="3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C:\Users\MSShafigullin\Desktop\2020\Презентация КФУ\TH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779" y="374112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370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13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601-800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T Sans"/>
              <a:buNone/>
            </a:pPr>
            <a:r>
              <a:rPr lang="ru-RU" sz="800" b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9</a:t>
            </a:r>
            <a:endParaRPr sz="800" b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27584" y="1995686"/>
            <a:ext cx="8316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D349-0E0C-66F1-3B13-685858E53F29}"/>
              </a:ext>
            </a:extLst>
          </p:cNvPr>
          <p:cNvSpPr txBox="1"/>
          <p:nvPr/>
        </p:nvSpPr>
        <p:spPr>
          <a:xfrm flipH="1">
            <a:off x="1187010" y="909263"/>
            <a:ext cx="76692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PT Sans"/>
              </a:rPr>
              <a:t>Основной акцент в данной дисциплине будет сделан на изучении технологий обеспечения реляционных баз данных как основополагающей, универсальной и наиболее распространенной модели данных. </a:t>
            </a:r>
          </a:p>
          <a:p>
            <a:r>
              <a:rPr lang="ru-RU" sz="1800" dirty="0">
                <a:latin typeface="PT Sans"/>
              </a:rPr>
              <a:t>Будут рассмотрены: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теоретические основы построения реляционной модели;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практические приемы проектирования реляционной модели;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язык </a:t>
            </a:r>
            <a:r>
              <a:rPr lang="en-US" sz="1800" dirty="0">
                <a:latin typeface="PT Sans"/>
              </a:rPr>
              <a:t>SQL</a:t>
            </a:r>
            <a:r>
              <a:rPr lang="ru-RU" sz="1800" dirty="0">
                <a:latin typeface="PT Sans"/>
              </a:rPr>
              <a:t> как язык описания и манипулирования данными в реляционных СУБД;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принципы работы реляционных СУБД;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PT Sans"/>
              </a:rPr>
              <a:t>основные подходы обращения к реляционным базам данных из клиентских приложений.</a:t>
            </a:r>
          </a:p>
          <a:p>
            <a:pPr marL="285750" indent="-285750">
              <a:buFontTx/>
              <a:buChar char="-"/>
            </a:pPr>
            <a:endParaRPr lang="ru-RU" sz="1800" dirty="0">
              <a:latin typeface="PT Sans"/>
            </a:endParaRPr>
          </a:p>
          <a:p>
            <a:endParaRPr lang="ru-RU" sz="1800" dirty="0"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524175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0" descr="C:\Users\MSShafigullin\Desktop\Проекты\Брендбук\Гайдлайн\Презентация\презентация шаблон КФУ-01.jpg"/>
          <p:cNvPicPr preferRelativeResize="0"/>
          <p:nvPr/>
        </p:nvPicPr>
        <p:blipFill rotWithShape="1">
          <a:blip r:embed="rId3">
            <a:alphaModFix/>
          </a:blip>
          <a:srcRect b="20471"/>
          <a:stretch/>
        </p:blipFill>
        <p:spPr>
          <a:xfrm>
            <a:off x="0" y="1786"/>
            <a:ext cx="9144000" cy="5141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0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411510"/>
            <a:ext cx="1152128" cy="112494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0"/>
          <p:cNvSpPr txBox="1"/>
          <p:nvPr/>
        </p:nvSpPr>
        <p:spPr>
          <a:xfrm>
            <a:off x="2267744" y="373815"/>
            <a:ext cx="5256584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ТЕХНОЛОГИИ БАЗ ДАННЫХ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800" dirty="0">
              <a:solidFill>
                <a:schemeClr val="lt1"/>
              </a:solidFill>
              <a:latin typeface="PT Sans"/>
              <a:sym typeface="P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latin typeface="PT Sans"/>
                <a:sym typeface="PT Sans"/>
              </a:rPr>
              <a:t>Системы управления базами данных</a:t>
            </a:r>
            <a:endParaRPr dirty="0"/>
          </a:p>
        </p:txBody>
      </p:sp>
      <p:sp>
        <p:nvSpPr>
          <p:cNvPr id="405" name="Google Shape;405;p20"/>
          <p:cNvSpPr txBox="1"/>
          <p:nvPr/>
        </p:nvSpPr>
        <p:spPr>
          <a:xfrm>
            <a:off x="2267744" y="2355726"/>
            <a:ext cx="5904656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lang="ru-RU" sz="3600" b="1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Спасибо за внимание!</a:t>
            </a:r>
            <a:endParaRPr sz="3600" b="1" i="0" u="none" strike="noStrike" cap="none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2267744" y="3363838"/>
            <a:ext cx="6552728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Андрианова Анастасия Александровна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Доцент кафедры системного анализа и информационных технологий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https://kpfu.ru/Anastasiya.Andrianova</a:t>
            </a:r>
            <a:endParaRPr lang="ru-RU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r>
              <a:rPr lang="en-US" sz="12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Anastasiya.Andrianova</a:t>
            </a:r>
            <a:r>
              <a:rPr lang="ru-RU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@kpfu.ru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+7 (843) 233 70 37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1670</Words>
  <Application>Microsoft Office PowerPoint</Application>
  <PresentationFormat>Экран (16:9)</PresentationFormat>
  <Paragraphs>323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PT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</dc:creator>
  <cp:lastModifiedBy>Андрианова Анастасия</cp:lastModifiedBy>
  <cp:revision>8</cp:revision>
  <dcterms:created xsi:type="dcterms:W3CDTF">2020-08-07T05:47:40Z</dcterms:created>
  <dcterms:modified xsi:type="dcterms:W3CDTF">2023-08-08T14:44:59Z</dcterms:modified>
</cp:coreProperties>
</file>