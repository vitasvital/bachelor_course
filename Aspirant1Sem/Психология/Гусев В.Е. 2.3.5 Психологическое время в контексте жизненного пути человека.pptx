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7" r:id="rId9"/>
    <p:sldId id="266" r:id="rId10"/>
    <p:sldId id="268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6D0543-4A34-4B6A-97F9-984E09C5A232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58E6193-995D-4F12-A1AB-6A6C2C101680}">
      <dgm:prSet phldrT="[Текст]" custT="1"/>
      <dgm:spPr/>
      <dgm:t>
        <a:bodyPr/>
        <a:lstStyle/>
        <a:p>
          <a:pPr>
            <a:buNone/>
          </a:pPr>
          <a:r>
            <a:rPr lang="ru-RU" sz="1600" b="1" i="1" dirty="0">
              <a:latin typeface="Century Schoolbook" panose="02040604050505020304" pitchFamily="18" charset="0"/>
            </a:rPr>
            <a:t>Взрослость</a:t>
          </a:r>
        </a:p>
        <a:p>
          <a:pPr>
            <a:buNone/>
          </a:pPr>
          <a:endParaRPr lang="ru-RU" sz="1600" b="1" i="1" dirty="0">
            <a:latin typeface="Century Schoolbook" panose="02040604050505020304" pitchFamily="18" charset="0"/>
          </a:endParaRPr>
        </a:p>
        <a:p>
          <a:pPr>
            <a:buNone/>
          </a:pPr>
          <a:r>
            <a:rPr lang="ru-RU" sz="1600" dirty="0">
              <a:latin typeface="Century Schoolbook" panose="02040604050505020304" pitchFamily="18" charset="0"/>
            </a:rPr>
            <a:t>Гармоничное сочетание воспоминаний, настоящего и планов. Формирование зрелого отношения ко времени.</a:t>
          </a:r>
        </a:p>
      </dgm:t>
    </dgm:pt>
    <dgm:pt modelId="{211671B4-7718-4DA9-96CE-09AFD807B842}" type="parTrans" cxnId="{6093F717-BADE-4987-8DFB-9C5D8196D00E}">
      <dgm:prSet/>
      <dgm:spPr/>
      <dgm:t>
        <a:bodyPr/>
        <a:lstStyle/>
        <a:p>
          <a:endParaRPr lang="ru-RU"/>
        </a:p>
      </dgm:t>
    </dgm:pt>
    <dgm:pt modelId="{9AEAE8D8-91F7-46EE-8B8C-2006CC7350E7}" type="sibTrans" cxnId="{6093F717-BADE-4987-8DFB-9C5D8196D00E}">
      <dgm:prSet/>
      <dgm:spPr/>
      <dgm:t>
        <a:bodyPr/>
        <a:lstStyle/>
        <a:p>
          <a:endParaRPr lang="ru-RU"/>
        </a:p>
      </dgm:t>
    </dgm:pt>
    <dgm:pt modelId="{8F0C52FE-671D-47E5-B501-914144CF68B2}">
      <dgm:prSet phldrT="[Текст]" custT="1"/>
      <dgm:spPr/>
      <dgm:t>
        <a:bodyPr/>
        <a:lstStyle/>
        <a:p>
          <a:pPr>
            <a:buNone/>
          </a:pPr>
          <a:r>
            <a:rPr lang="ru-RU" sz="1600" b="1" i="1" u="none" dirty="0">
              <a:latin typeface="Century Schoolbook" panose="02040604050505020304" pitchFamily="18" charset="0"/>
            </a:rPr>
            <a:t>Пожилой</a:t>
          </a:r>
          <a:r>
            <a:rPr lang="ru-RU" sz="1600" b="1" i="0" u="sng" dirty="0">
              <a:latin typeface="Century Schoolbook" panose="02040604050505020304" pitchFamily="18" charset="0"/>
            </a:rPr>
            <a:t> </a:t>
          </a:r>
          <a:r>
            <a:rPr lang="ru-RU" sz="1600" b="1" i="1" u="none" dirty="0">
              <a:latin typeface="Century Schoolbook" panose="02040604050505020304" pitchFamily="18" charset="0"/>
            </a:rPr>
            <a:t>возраст</a:t>
          </a:r>
        </a:p>
        <a:p>
          <a:pPr>
            <a:buNone/>
          </a:pPr>
          <a:endParaRPr lang="ru-RU" sz="1600" b="1" i="1" u="none" dirty="0">
            <a:latin typeface="Century Schoolbook" panose="02040604050505020304" pitchFamily="18" charset="0"/>
          </a:endParaRPr>
        </a:p>
        <a:p>
          <a:pPr>
            <a:buNone/>
          </a:pPr>
          <a:r>
            <a:rPr lang="ru-RU" sz="1600" dirty="0">
              <a:latin typeface="Century Schoolbook" panose="02040604050505020304" pitchFamily="18" charset="0"/>
            </a:rPr>
            <a:t>Приоритет осмысления прожитого и актуализация оставшегося времени для завершения жизненных задач.</a:t>
          </a:r>
        </a:p>
      </dgm:t>
    </dgm:pt>
    <dgm:pt modelId="{62CE242F-BBC5-4417-9E8F-D8065CB16BDD}" type="parTrans" cxnId="{11007EF4-D623-48A6-866B-8DC9C7139E40}">
      <dgm:prSet/>
      <dgm:spPr/>
      <dgm:t>
        <a:bodyPr/>
        <a:lstStyle/>
        <a:p>
          <a:endParaRPr lang="ru-RU"/>
        </a:p>
      </dgm:t>
    </dgm:pt>
    <dgm:pt modelId="{3B1A7515-BD12-4476-9DE8-4ECC3346A1E6}" type="sibTrans" cxnId="{11007EF4-D623-48A6-866B-8DC9C7139E40}">
      <dgm:prSet/>
      <dgm:spPr/>
      <dgm:t>
        <a:bodyPr/>
        <a:lstStyle/>
        <a:p>
          <a:endParaRPr lang="ru-RU"/>
        </a:p>
      </dgm:t>
    </dgm:pt>
    <dgm:pt modelId="{CB9A73E4-BD60-4C4A-BA7F-51D3B0C80F1C}">
      <dgm:prSet phldrT="[Текст]" custT="1"/>
      <dgm:spPr/>
      <dgm:t>
        <a:bodyPr/>
        <a:lstStyle/>
        <a:p>
          <a:pPr>
            <a:buNone/>
          </a:pPr>
          <a:r>
            <a:rPr lang="ru-RU" sz="1600" b="1" i="1" dirty="0">
              <a:latin typeface="Century Schoolbook" panose="02040604050505020304" pitchFamily="18" charset="0"/>
            </a:rPr>
            <a:t>Юность</a:t>
          </a:r>
        </a:p>
        <a:p>
          <a:pPr>
            <a:buNone/>
          </a:pPr>
          <a:endParaRPr lang="ru-RU" sz="1600" b="1" i="1" dirty="0">
            <a:latin typeface="Century Schoolbook" panose="02040604050505020304" pitchFamily="18" charset="0"/>
          </a:endParaRPr>
        </a:p>
        <a:p>
          <a:pPr>
            <a:buNone/>
          </a:pPr>
          <a:r>
            <a:rPr lang="ru-RU" sz="1600" dirty="0">
              <a:latin typeface="Century Schoolbook" panose="02040604050505020304" pitchFamily="18" charset="0"/>
            </a:rPr>
            <a:t>Развитие памяти и планирования будущего, осознание временных рамок и личных целей.</a:t>
          </a:r>
        </a:p>
      </dgm:t>
    </dgm:pt>
    <dgm:pt modelId="{2F5C7F28-F5FE-41E3-957F-9D517C2BB5D5}" type="parTrans" cxnId="{93897E05-1FD7-433D-A173-CA9F2E316758}">
      <dgm:prSet/>
      <dgm:spPr/>
      <dgm:t>
        <a:bodyPr/>
        <a:lstStyle/>
        <a:p>
          <a:endParaRPr lang="ru-RU"/>
        </a:p>
      </dgm:t>
    </dgm:pt>
    <dgm:pt modelId="{630B4BAF-3A4F-4EF8-A688-E25C2E97B22C}" type="sibTrans" cxnId="{93897E05-1FD7-433D-A173-CA9F2E316758}">
      <dgm:prSet/>
      <dgm:spPr/>
      <dgm:t>
        <a:bodyPr/>
        <a:lstStyle/>
        <a:p>
          <a:endParaRPr lang="ru-RU"/>
        </a:p>
      </dgm:t>
    </dgm:pt>
    <dgm:pt modelId="{104B3909-F69E-4D01-818C-E8289B342296}">
      <dgm:prSet phldrT="[Текст]" phldr="0" custT="1"/>
      <dgm:spPr/>
      <dgm:t>
        <a:bodyPr/>
        <a:lstStyle/>
        <a:p>
          <a:pPr>
            <a:buNone/>
          </a:pPr>
          <a:r>
            <a:rPr lang="ru-RU" sz="1600" b="1" i="1" dirty="0">
              <a:latin typeface="Century Schoolbook" panose="02040604050505020304" pitchFamily="18" charset="0"/>
            </a:rPr>
            <a:t>Детство</a:t>
          </a:r>
        </a:p>
        <a:p>
          <a:pPr>
            <a:buNone/>
          </a:pPr>
          <a:br>
            <a:rPr lang="ru-RU" sz="1600" dirty="0">
              <a:latin typeface="Century Schoolbook" panose="02040604050505020304" pitchFamily="18" charset="0"/>
            </a:rPr>
          </a:br>
          <a:r>
            <a:rPr lang="ru-RU" sz="1600" dirty="0">
              <a:latin typeface="Century Schoolbook" panose="02040604050505020304" pitchFamily="18" charset="0"/>
            </a:rPr>
            <a:t>Начальное формирование временных представлений, преобладает восприятие настоящего и кратковременной перспективы.</a:t>
          </a:r>
        </a:p>
      </dgm:t>
    </dgm:pt>
    <dgm:pt modelId="{EEECB793-E46C-4E38-93F5-B92BCF397843}" type="parTrans" cxnId="{FD334FC6-F2E7-46F4-8222-24DAB3E5EE70}">
      <dgm:prSet/>
      <dgm:spPr/>
      <dgm:t>
        <a:bodyPr/>
        <a:lstStyle/>
        <a:p>
          <a:endParaRPr lang="ru-RU"/>
        </a:p>
      </dgm:t>
    </dgm:pt>
    <dgm:pt modelId="{BE78BC10-C94A-4111-8679-F28480E06285}" type="sibTrans" cxnId="{FD334FC6-F2E7-46F4-8222-24DAB3E5EE70}">
      <dgm:prSet/>
      <dgm:spPr/>
      <dgm:t>
        <a:bodyPr/>
        <a:lstStyle/>
        <a:p>
          <a:endParaRPr lang="ru-RU"/>
        </a:p>
      </dgm:t>
    </dgm:pt>
    <dgm:pt modelId="{7ABF20B2-F9FD-44AF-B72A-991A2DEBDFCE}" type="pres">
      <dgm:prSet presAssocID="{966D0543-4A34-4B6A-97F9-984E09C5A232}" presName="Name0" presStyleCnt="0">
        <dgm:presLayoutVars>
          <dgm:dir/>
          <dgm:resizeHandles val="exact"/>
        </dgm:presLayoutVars>
      </dgm:prSet>
      <dgm:spPr/>
    </dgm:pt>
    <dgm:pt modelId="{6656A704-A660-4C58-94FF-38059D96960B}" type="pres">
      <dgm:prSet presAssocID="{966D0543-4A34-4B6A-97F9-984E09C5A232}" presName="arrow" presStyleLbl="bgShp" presStyleIdx="0" presStyleCnt="1"/>
      <dgm:spPr>
        <a:gradFill flip="none" rotWithShape="0">
          <a:gsLst>
            <a:gs pos="0">
              <a:schemeClr val="accent1">
                <a:tint val="40000"/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1">
                <a:tint val="40000"/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13500000" scaled="1"/>
          <a:tileRect/>
        </a:gradFill>
      </dgm:spPr>
    </dgm:pt>
    <dgm:pt modelId="{408C2AE9-EF35-4037-8752-DC434590A13A}" type="pres">
      <dgm:prSet presAssocID="{966D0543-4A34-4B6A-97F9-984E09C5A232}" presName="points" presStyleCnt="0"/>
      <dgm:spPr/>
    </dgm:pt>
    <dgm:pt modelId="{70E2DD06-375F-40C8-BD5A-4144E7DDE9EC}" type="pres">
      <dgm:prSet presAssocID="{104B3909-F69E-4D01-818C-E8289B342296}" presName="compositeA" presStyleCnt="0"/>
      <dgm:spPr/>
    </dgm:pt>
    <dgm:pt modelId="{BB10424C-8D33-46A2-8764-C51925360327}" type="pres">
      <dgm:prSet presAssocID="{104B3909-F69E-4D01-818C-E8289B342296}" presName="textA" presStyleLbl="revTx" presStyleIdx="0" presStyleCnt="4" custScaleX="270376" custScaleY="105693">
        <dgm:presLayoutVars>
          <dgm:bulletEnabled val="1"/>
        </dgm:presLayoutVars>
      </dgm:prSet>
      <dgm:spPr/>
    </dgm:pt>
    <dgm:pt modelId="{61EAD796-D381-44C5-A525-D850F3336C9B}" type="pres">
      <dgm:prSet presAssocID="{104B3909-F69E-4D01-818C-E8289B342296}" presName="circleA" presStyleLbl="node1" presStyleIdx="0" presStyleCnt="4"/>
      <dgm:spPr/>
    </dgm:pt>
    <dgm:pt modelId="{4E9BB33D-F603-4F08-8778-E66801950E36}" type="pres">
      <dgm:prSet presAssocID="{104B3909-F69E-4D01-818C-E8289B342296}" presName="spaceA" presStyleCnt="0"/>
      <dgm:spPr/>
    </dgm:pt>
    <dgm:pt modelId="{07B606BD-8819-4917-906C-CCE3D2511016}" type="pres">
      <dgm:prSet presAssocID="{BE78BC10-C94A-4111-8679-F28480E06285}" presName="space" presStyleCnt="0"/>
      <dgm:spPr/>
    </dgm:pt>
    <dgm:pt modelId="{4E7411F8-660E-4C7D-9A40-E38457CD28A4}" type="pres">
      <dgm:prSet presAssocID="{CB9A73E4-BD60-4C4A-BA7F-51D3B0C80F1C}" presName="compositeB" presStyleCnt="0"/>
      <dgm:spPr/>
    </dgm:pt>
    <dgm:pt modelId="{1A14D262-DF2D-4FBC-B0BE-1FE36105F560}" type="pres">
      <dgm:prSet presAssocID="{CB9A73E4-BD60-4C4A-BA7F-51D3B0C80F1C}" presName="textB" presStyleLbl="revTx" presStyleIdx="1" presStyleCnt="4" custScaleX="173948" custLinFactNeighborX="-376" custLinFactNeighborY="-4269">
        <dgm:presLayoutVars>
          <dgm:bulletEnabled val="1"/>
        </dgm:presLayoutVars>
      </dgm:prSet>
      <dgm:spPr/>
    </dgm:pt>
    <dgm:pt modelId="{25B4FC80-5401-42C2-AE91-9339F87F7235}" type="pres">
      <dgm:prSet presAssocID="{CB9A73E4-BD60-4C4A-BA7F-51D3B0C80F1C}" presName="circleB" presStyleLbl="node1" presStyleIdx="1" presStyleCnt="4"/>
      <dgm:spPr/>
    </dgm:pt>
    <dgm:pt modelId="{BB436954-5D57-46BE-A9BB-3EF4E602E903}" type="pres">
      <dgm:prSet presAssocID="{CB9A73E4-BD60-4C4A-BA7F-51D3B0C80F1C}" presName="spaceB" presStyleCnt="0"/>
      <dgm:spPr/>
    </dgm:pt>
    <dgm:pt modelId="{78693D58-F162-481D-B65A-318D4CBF81F1}" type="pres">
      <dgm:prSet presAssocID="{630B4BAF-3A4F-4EF8-A688-E25C2E97B22C}" presName="space" presStyleCnt="0"/>
      <dgm:spPr/>
    </dgm:pt>
    <dgm:pt modelId="{EBF43A29-64F5-49BE-8F6A-D0BFF969AC1F}" type="pres">
      <dgm:prSet presAssocID="{C58E6193-995D-4F12-A1AB-6A6C2C101680}" presName="compositeA" presStyleCnt="0"/>
      <dgm:spPr/>
    </dgm:pt>
    <dgm:pt modelId="{3FA43453-7885-48CE-A892-58A17CC69511}" type="pres">
      <dgm:prSet presAssocID="{C58E6193-995D-4F12-A1AB-6A6C2C101680}" presName="textA" presStyleLbl="revTx" presStyleIdx="2" presStyleCnt="4" custScaleX="222430">
        <dgm:presLayoutVars>
          <dgm:bulletEnabled val="1"/>
        </dgm:presLayoutVars>
      </dgm:prSet>
      <dgm:spPr/>
    </dgm:pt>
    <dgm:pt modelId="{00442A9E-639B-44DA-B158-4F051A6B15E1}" type="pres">
      <dgm:prSet presAssocID="{C58E6193-995D-4F12-A1AB-6A6C2C101680}" presName="circleA" presStyleLbl="node1" presStyleIdx="2" presStyleCnt="4"/>
      <dgm:spPr/>
    </dgm:pt>
    <dgm:pt modelId="{D22CE7E6-3182-43F1-B822-CD9C7E70B9BC}" type="pres">
      <dgm:prSet presAssocID="{C58E6193-995D-4F12-A1AB-6A6C2C101680}" presName="spaceA" presStyleCnt="0"/>
      <dgm:spPr/>
    </dgm:pt>
    <dgm:pt modelId="{4094F143-2394-4F24-B648-7E9D32C610F2}" type="pres">
      <dgm:prSet presAssocID="{9AEAE8D8-91F7-46EE-8B8C-2006CC7350E7}" presName="space" presStyleCnt="0"/>
      <dgm:spPr/>
    </dgm:pt>
    <dgm:pt modelId="{C7C614D9-5896-46E8-AD1F-7EC57F24A21E}" type="pres">
      <dgm:prSet presAssocID="{8F0C52FE-671D-47E5-B501-914144CF68B2}" presName="compositeB" presStyleCnt="0"/>
      <dgm:spPr/>
    </dgm:pt>
    <dgm:pt modelId="{FA5DE00F-BD2C-4FD0-915C-B0F50E4BF543}" type="pres">
      <dgm:prSet presAssocID="{8F0C52FE-671D-47E5-B501-914144CF68B2}" presName="textB" presStyleLbl="revTx" presStyleIdx="3" presStyleCnt="4" custScaleX="228037" custLinFactNeighborX="-364" custLinFactNeighborY="-5218">
        <dgm:presLayoutVars>
          <dgm:bulletEnabled val="1"/>
        </dgm:presLayoutVars>
      </dgm:prSet>
      <dgm:spPr/>
    </dgm:pt>
    <dgm:pt modelId="{7BB5874B-B285-4E7A-915D-6FC4BB9AB151}" type="pres">
      <dgm:prSet presAssocID="{8F0C52FE-671D-47E5-B501-914144CF68B2}" presName="circleB" presStyleLbl="node1" presStyleIdx="3" presStyleCnt="4"/>
      <dgm:spPr/>
    </dgm:pt>
    <dgm:pt modelId="{3FE7B11D-BF60-4EAF-9EF1-BEA04D01173F}" type="pres">
      <dgm:prSet presAssocID="{8F0C52FE-671D-47E5-B501-914144CF68B2}" presName="spaceB" presStyleCnt="0"/>
      <dgm:spPr/>
    </dgm:pt>
  </dgm:ptLst>
  <dgm:cxnLst>
    <dgm:cxn modelId="{C248CB04-EBD3-49A7-9787-F0AE01AF9631}" type="presOf" srcId="{8F0C52FE-671D-47E5-B501-914144CF68B2}" destId="{FA5DE00F-BD2C-4FD0-915C-B0F50E4BF543}" srcOrd="0" destOrd="0" presId="urn:microsoft.com/office/officeart/2005/8/layout/hProcess11"/>
    <dgm:cxn modelId="{93897E05-1FD7-433D-A173-CA9F2E316758}" srcId="{966D0543-4A34-4B6A-97F9-984E09C5A232}" destId="{CB9A73E4-BD60-4C4A-BA7F-51D3B0C80F1C}" srcOrd="1" destOrd="0" parTransId="{2F5C7F28-F5FE-41E3-957F-9D517C2BB5D5}" sibTransId="{630B4BAF-3A4F-4EF8-A688-E25C2E97B22C}"/>
    <dgm:cxn modelId="{65025D14-9A00-4466-A0E8-9ADE5F24F0F0}" type="presOf" srcId="{CB9A73E4-BD60-4C4A-BA7F-51D3B0C80F1C}" destId="{1A14D262-DF2D-4FBC-B0BE-1FE36105F560}" srcOrd="0" destOrd="0" presId="urn:microsoft.com/office/officeart/2005/8/layout/hProcess11"/>
    <dgm:cxn modelId="{6093F717-BADE-4987-8DFB-9C5D8196D00E}" srcId="{966D0543-4A34-4B6A-97F9-984E09C5A232}" destId="{C58E6193-995D-4F12-A1AB-6A6C2C101680}" srcOrd="2" destOrd="0" parTransId="{211671B4-7718-4DA9-96CE-09AFD807B842}" sibTransId="{9AEAE8D8-91F7-46EE-8B8C-2006CC7350E7}"/>
    <dgm:cxn modelId="{B2636C4F-1BD0-487E-800D-20BE61A15B96}" type="presOf" srcId="{104B3909-F69E-4D01-818C-E8289B342296}" destId="{BB10424C-8D33-46A2-8764-C51925360327}" srcOrd="0" destOrd="0" presId="urn:microsoft.com/office/officeart/2005/8/layout/hProcess11"/>
    <dgm:cxn modelId="{73968A70-AE4B-4BD8-B210-C7D12F22037F}" type="presOf" srcId="{966D0543-4A34-4B6A-97F9-984E09C5A232}" destId="{7ABF20B2-F9FD-44AF-B72A-991A2DEBDFCE}" srcOrd="0" destOrd="0" presId="urn:microsoft.com/office/officeart/2005/8/layout/hProcess11"/>
    <dgm:cxn modelId="{010E75B2-3C90-4051-BC91-BA08CFCCF05F}" type="presOf" srcId="{C58E6193-995D-4F12-A1AB-6A6C2C101680}" destId="{3FA43453-7885-48CE-A892-58A17CC69511}" srcOrd="0" destOrd="0" presId="urn:microsoft.com/office/officeart/2005/8/layout/hProcess11"/>
    <dgm:cxn modelId="{FD334FC6-F2E7-46F4-8222-24DAB3E5EE70}" srcId="{966D0543-4A34-4B6A-97F9-984E09C5A232}" destId="{104B3909-F69E-4D01-818C-E8289B342296}" srcOrd="0" destOrd="0" parTransId="{EEECB793-E46C-4E38-93F5-B92BCF397843}" sibTransId="{BE78BC10-C94A-4111-8679-F28480E06285}"/>
    <dgm:cxn modelId="{11007EF4-D623-48A6-866B-8DC9C7139E40}" srcId="{966D0543-4A34-4B6A-97F9-984E09C5A232}" destId="{8F0C52FE-671D-47E5-B501-914144CF68B2}" srcOrd="3" destOrd="0" parTransId="{62CE242F-BBC5-4417-9E8F-D8065CB16BDD}" sibTransId="{3B1A7515-BD12-4476-9DE8-4ECC3346A1E6}"/>
    <dgm:cxn modelId="{87F898DF-AB22-4559-A41D-296E10D2D850}" type="presParOf" srcId="{7ABF20B2-F9FD-44AF-B72A-991A2DEBDFCE}" destId="{6656A704-A660-4C58-94FF-38059D96960B}" srcOrd="0" destOrd="0" presId="urn:microsoft.com/office/officeart/2005/8/layout/hProcess11"/>
    <dgm:cxn modelId="{65D8729D-37E7-4E42-946B-C18C79B94F05}" type="presParOf" srcId="{7ABF20B2-F9FD-44AF-B72A-991A2DEBDFCE}" destId="{408C2AE9-EF35-4037-8752-DC434590A13A}" srcOrd="1" destOrd="0" presId="urn:microsoft.com/office/officeart/2005/8/layout/hProcess11"/>
    <dgm:cxn modelId="{6289CE04-E567-48EF-B553-0D6F0D988BEB}" type="presParOf" srcId="{408C2AE9-EF35-4037-8752-DC434590A13A}" destId="{70E2DD06-375F-40C8-BD5A-4144E7DDE9EC}" srcOrd="0" destOrd="0" presId="urn:microsoft.com/office/officeart/2005/8/layout/hProcess11"/>
    <dgm:cxn modelId="{78565B3C-531E-4F59-B477-23A153696321}" type="presParOf" srcId="{70E2DD06-375F-40C8-BD5A-4144E7DDE9EC}" destId="{BB10424C-8D33-46A2-8764-C51925360327}" srcOrd="0" destOrd="0" presId="urn:microsoft.com/office/officeart/2005/8/layout/hProcess11"/>
    <dgm:cxn modelId="{66E5BC00-C60E-4936-A045-19E99A21F9C1}" type="presParOf" srcId="{70E2DD06-375F-40C8-BD5A-4144E7DDE9EC}" destId="{61EAD796-D381-44C5-A525-D850F3336C9B}" srcOrd="1" destOrd="0" presId="urn:microsoft.com/office/officeart/2005/8/layout/hProcess11"/>
    <dgm:cxn modelId="{89A125E3-C3A5-403D-8201-B5F1E4FA1050}" type="presParOf" srcId="{70E2DD06-375F-40C8-BD5A-4144E7DDE9EC}" destId="{4E9BB33D-F603-4F08-8778-E66801950E36}" srcOrd="2" destOrd="0" presId="urn:microsoft.com/office/officeart/2005/8/layout/hProcess11"/>
    <dgm:cxn modelId="{113DA123-DB81-4188-97B4-79FC3D6A5784}" type="presParOf" srcId="{408C2AE9-EF35-4037-8752-DC434590A13A}" destId="{07B606BD-8819-4917-906C-CCE3D2511016}" srcOrd="1" destOrd="0" presId="urn:microsoft.com/office/officeart/2005/8/layout/hProcess11"/>
    <dgm:cxn modelId="{6F05C0E4-904C-48AE-8DD0-CC511EEACD59}" type="presParOf" srcId="{408C2AE9-EF35-4037-8752-DC434590A13A}" destId="{4E7411F8-660E-4C7D-9A40-E38457CD28A4}" srcOrd="2" destOrd="0" presId="urn:microsoft.com/office/officeart/2005/8/layout/hProcess11"/>
    <dgm:cxn modelId="{3E21A806-1030-4231-945D-F09CA12974BA}" type="presParOf" srcId="{4E7411F8-660E-4C7D-9A40-E38457CD28A4}" destId="{1A14D262-DF2D-4FBC-B0BE-1FE36105F560}" srcOrd="0" destOrd="0" presId="urn:microsoft.com/office/officeart/2005/8/layout/hProcess11"/>
    <dgm:cxn modelId="{C564D276-7AAD-4094-8A08-A5060CE46A79}" type="presParOf" srcId="{4E7411F8-660E-4C7D-9A40-E38457CD28A4}" destId="{25B4FC80-5401-42C2-AE91-9339F87F7235}" srcOrd="1" destOrd="0" presId="urn:microsoft.com/office/officeart/2005/8/layout/hProcess11"/>
    <dgm:cxn modelId="{51C2E3CD-2A47-4E90-8B8D-717D5D627EAC}" type="presParOf" srcId="{4E7411F8-660E-4C7D-9A40-E38457CD28A4}" destId="{BB436954-5D57-46BE-A9BB-3EF4E602E903}" srcOrd="2" destOrd="0" presId="urn:microsoft.com/office/officeart/2005/8/layout/hProcess11"/>
    <dgm:cxn modelId="{14AB81FC-CD90-4750-A10B-D978C3D1C78E}" type="presParOf" srcId="{408C2AE9-EF35-4037-8752-DC434590A13A}" destId="{78693D58-F162-481D-B65A-318D4CBF81F1}" srcOrd="3" destOrd="0" presId="urn:microsoft.com/office/officeart/2005/8/layout/hProcess11"/>
    <dgm:cxn modelId="{3736FC96-4CA0-4C11-B762-7E4570C371B3}" type="presParOf" srcId="{408C2AE9-EF35-4037-8752-DC434590A13A}" destId="{EBF43A29-64F5-49BE-8F6A-D0BFF969AC1F}" srcOrd="4" destOrd="0" presId="urn:microsoft.com/office/officeart/2005/8/layout/hProcess11"/>
    <dgm:cxn modelId="{02B35B8E-DE04-4DFF-B475-ED1159E77DF1}" type="presParOf" srcId="{EBF43A29-64F5-49BE-8F6A-D0BFF969AC1F}" destId="{3FA43453-7885-48CE-A892-58A17CC69511}" srcOrd="0" destOrd="0" presId="urn:microsoft.com/office/officeart/2005/8/layout/hProcess11"/>
    <dgm:cxn modelId="{EB9C52DE-E642-4C9F-930B-F32C8D361AFE}" type="presParOf" srcId="{EBF43A29-64F5-49BE-8F6A-D0BFF969AC1F}" destId="{00442A9E-639B-44DA-B158-4F051A6B15E1}" srcOrd="1" destOrd="0" presId="urn:microsoft.com/office/officeart/2005/8/layout/hProcess11"/>
    <dgm:cxn modelId="{BCF220A6-CA20-48D2-8742-A94337B08EF7}" type="presParOf" srcId="{EBF43A29-64F5-49BE-8F6A-D0BFF969AC1F}" destId="{D22CE7E6-3182-43F1-B822-CD9C7E70B9BC}" srcOrd="2" destOrd="0" presId="urn:microsoft.com/office/officeart/2005/8/layout/hProcess11"/>
    <dgm:cxn modelId="{9BCF7862-7012-414D-81E4-BEC0D3D98291}" type="presParOf" srcId="{408C2AE9-EF35-4037-8752-DC434590A13A}" destId="{4094F143-2394-4F24-B648-7E9D32C610F2}" srcOrd="5" destOrd="0" presId="urn:microsoft.com/office/officeart/2005/8/layout/hProcess11"/>
    <dgm:cxn modelId="{2BCC1ACA-7139-439A-AAAB-8EDACFE1D259}" type="presParOf" srcId="{408C2AE9-EF35-4037-8752-DC434590A13A}" destId="{C7C614D9-5896-46E8-AD1F-7EC57F24A21E}" srcOrd="6" destOrd="0" presId="urn:microsoft.com/office/officeart/2005/8/layout/hProcess11"/>
    <dgm:cxn modelId="{39C4A16E-6EF8-4B81-94CA-7F50F4AA2934}" type="presParOf" srcId="{C7C614D9-5896-46E8-AD1F-7EC57F24A21E}" destId="{FA5DE00F-BD2C-4FD0-915C-B0F50E4BF543}" srcOrd="0" destOrd="0" presId="urn:microsoft.com/office/officeart/2005/8/layout/hProcess11"/>
    <dgm:cxn modelId="{480A5728-2A60-4FCB-8258-4706AFA8C4A6}" type="presParOf" srcId="{C7C614D9-5896-46E8-AD1F-7EC57F24A21E}" destId="{7BB5874B-B285-4E7A-915D-6FC4BB9AB151}" srcOrd="1" destOrd="0" presId="urn:microsoft.com/office/officeart/2005/8/layout/hProcess11"/>
    <dgm:cxn modelId="{59F364E4-AA98-40FE-B737-A863249DDC92}" type="presParOf" srcId="{C7C614D9-5896-46E8-AD1F-7EC57F24A21E}" destId="{3FE7B11D-BF60-4EAF-9EF1-BEA04D01173F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56A704-A660-4C58-94FF-38059D96960B}">
      <dsp:nvSpPr>
        <dsp:cNvPr id="0" name=""/>
        <dsp:cNvSpPr/>
      </dsp:nvSpPr>
      <dsp:spPr>
        <a:xfrm>
          <a:off x="0" y="1554479"/>
          <a:ext cx="11965858" cy="2072639"/>
        </a:xfrm>
        <a:prstGeom prst="notchedRightArrow">
          <a:avLst/>
        </a:prstGeom>
        <a:gradFill flip="none" rotWithShape="0">
          <a:gsLst>
            <a:gs pos="0">
              <a:schemeClr val="accent1">
                <a:tint val="40000"/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1">
                <a:tint val="40000"/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135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10424C-8D33-46A2-8764-C51925360327}">
      <dsp:nvSpPr>
        <dsp:cNvPr id="0" name=""/>
        <dsp:cNvSpPr/>
      </dsp:nvSpPr>
      <dsp:spPr>
        <a:xfrm>
          <a:off x="7806" y="-29498"/>
          <a:ext cx="3195823" cy="2190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i="1" kern="1200" dirty="0">
              <a:latin typeface="Century Schoolbook" panose="02040604050505020304" pitchFamily="18" charset="0"/>
            </a:rPr>
            <a:t>Детство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ru-RU" sz="1600" kern="1200" dirty="0">
              <a:latin typeface="Century Schoolbook" panose="02040604050505020304" pitchFamily="18" charset="0"/>
            </a:rPr>
          </a:br>
          <a:r>
            <a:rPr lang="ru-RU" sz="1600" kern="1200" dirty="0">
              <a:latin typeface="Century Schoolbook" panose="02040604050505020304" pitchFamily="18" charset="0"/>
            </a:rPr>
            <a:t>Начальное формирование временных представлений, преобладает восприятие настоящего и кратковременной перспективы.</a:t>
          </a:r>
        </a:p>
      </dsp:txBody>
      <dsp:txXfrm>
        <a:off x="7806" y="-29498"/>
        <a:ext cx="3195823" cy="2190634"/>
      </dsp:txXfrm>
    </dsp:sp>
    <dsp:sp modelId="{61EAD796-D381-44C5-A525-D850F3336C9B}">
      <dsp:nvSpPr>
        <dsp:cNvPr id="0" name=""/>
        <dsp:cNvSpPr/>
      </dsp:nvSpPr>
      <dsp:spPr>
        <a:xfrm>
          <a:off x="1346638" y="2361218"/>
          <a:ext cx="518159" cy="51815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14D262-DF2D-4FBC-B0BE-1FE36105F560}">
      <dsp:nvSpPr>
        <dsp:cNvPr id="0" name=""/>
        <dsp:cNvSpPr/>
      </dsp:nvSpPr>
      <dsp:spPr>
        <a:xfrm>
          <a:off x="3258285" y="3020478"/>
          <a:ext cx="2056051" cy="2072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i="1" kern="1200" dirty="0">
              <a:latin typeface="Century Schoolbook" panose="02040604050505020304" pitchFamily="18" charset="0"/>
            </a:rPr>
            <a:t>Юность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600" b="1" i="1" kern="1200" dirty="0">
            <a:latin typeface="Century Schoolbook" panose="02040604050505020304" pitchFamily="18" charset="0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latin typeface="Century Schoolbook" panose="02040604050505020304" pitchFamily="18" charset="0"/>
            </a:rPr>
            <a:t>Развитие памяти и планирования будущего, осознание временных рамок и личных целей.</a:t>
          </a:r>
        </a:p>
      </dsp:txBody>
      <dsp:txXfrm>
        <a:off x="3258285" y="3020478"/>
        <a:ext cx="2056051" cy="2072639"/>
      </dsp:txXfrm>
    </dsp:sp>
    <dsp:sp modelId="{25B4FC80-5401-42C2-AE91-9339F87F7235}">
      <dsp:nvSpPr>
        <dsp:cNvPr id="0" name=""/>
        <dsp:cNvSpPr/>
      </dsp:nvSpPr>
      <dsp:spPr>
        <a:xfrm>
          <a:off x="4031675" y="2331719"/>
          <a:ext cx="518159" cy="51815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A43453-7885-48CE-A892-58A17CC69511}">
      <dsp:nvSpPr>
        <dsp:cNvPr id="0" name=""/>
        <dsp:cNvSpPr/>
      </dsp:nvSpPr>
      <dsp:spPr>
        <a:xfrm>
          <a:off x="5377881" y="0"/>
          <a:ext cx="2629105" cy="2072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i="1" kern="1200" dirty="0">
              <a:latin typeface="Century Schoolbook" panose="02040604050505020304" pitchFamily="18" charset="0"/>
            </a:rPr>
            <a:t>Взрослость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600" b="1" i="1" kern="1200" dirty="0">
            <a:latin typeface="Century Schoolbook" panose="02040604050505020304" pitchFamily="18" charset="0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latin typeface="Century Schoolbook" panose="02040604050505020304" pitchFamily="18" charset="0"/>
            </a:rPr>
            <a:t>Гармоничное сочетание воспоминаний, настоящего и планов. Формирование зрелого отношения ко времени.</a:t>
          </a:r>
        </a:p>
      </dsp:txBody>
      <dsp:txXfrm>
        <a:off x="5377881" y="0"/>
        <a:ext cx="2629105" cy="2072639"/>
      </dsp:txXfrm>
    </dsp:sp>
    <dsp:sp modelId="{00442A9E-639B-44DA-B158-4F051A6B15E1}">
      <dsp:nvSpPr>
        <dsp:cNvPr id="0" name=""/>
        <dsp:cNvSpPr/>
      </dsp:nvSpPr>
      <dsp:spPr>
        <a:xfrm>
          <a:off x="6433353" y="2331719"/>
          <a:ext cx="518159" cy="51815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5DE00F-BD2C-4FD0-915C-B0F50E4BF543}">
      <dsp:nvSpPr>
        <dsp:cNvPr id="0" name=""/>
        <dsp:cNvSpPr/>
      </dsp:nvSpPr>
      <dsp:spPr>
        <a:xfrm>
          <a:off x="8061783" y="3000809"/>
          <a:ext cx="2695379" cy="2072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i="1" u="none" kern="1200" dirty="0">
              <a:latin typeface="Century Schoolbook" panose="02040604050505020304" pitchFamily="18" charset="0"/>
            </a:rPr>
            <a:t>Пожилой</a:t>
          </a:r>
          <a:r>
            <a:rPr lang="ru-RU" sz="1600" b="1" i="0" u="sng" kern="1200" dirty="0">
              <a:latin typeface="Century Schoolbook" panose="02040604050505020304" pitchFamily="18" charset="0"/>
            </a:rPr>
            <a:t> </a:t>
          </a:r>
          <a:r>
            <a:rPr lang="ru-RU" sz="1600" b="1" i="1" u="none" kern="1200" dirty="0">
              <a:latin typeface="Century Schoolbook" panose="02040604050505020304" pitchFamily="18" charset="0"/>
            </a:rPr>
            <a:t>возраст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600" b="1" i="1" u="none" kern="1200" dirty="0">
            <a:latin typeface="Century Schoolbook" panose="02040604050505020304" pitchFamily="18" charset="0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latin typeface="Century Schoolbook" panose="02040604050505020304" pitchFamily="18" charset="0"/>
            </a:rPr>
            <a:t>Приоритет осмысления прожитого и актуализация оставшегося времени для завершения жизненных задач.</a:t>
          </a:r>
        </a:p>
      </dsp:txBody>
      <dsp:txXfrm>
        <a:off x="8061783" y="3000809"/>
        <a:ext cx="2695379" cy="2072639"/>
      </dsp:txXfrm>
    </dsp:sp>
    <dsp:sp modelId="{7BB5874B-B285-4E7A-915D-6FC4BB9AB151}">
      <dsp:nvSpPr>
        <dsp:cNvPr id="0" name=""/>
        <dsp:cNvSpPr/>
      </dsp:nvSpPr>
      <dsp:spPr>
        <a:xfrm>
          <a:off x="9154695" y="2331719"/>
          <a:ext cx="518159" cy="51815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382F4F-16D5-35A4-6ED9-67060986D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AEBA9C7-6AED-857F-C88A-43A26FD0B3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0131BE-8856-9EEA-DA2A-8A99D8C04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1852B-0032-45FC-AD49-3CB736C42046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3EF582-09EC-1A59-66A8-C699704AF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ADF2A-297A-AF02-7CF9-3810C8210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A72D-AF29-4C49-BB1A-7DA765D50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694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625577-FAFD-51D2-4B93-37BF5B168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5F2D73-A421-B9DF-6021-995216CFE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3E2F0E-848E-3BC6-FAEE-B36B52FD6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1852B-0032-45FC-AD49-3CB736C42046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3B247D-B4BA-FFBC-AE15-1D4F367F5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C38FA7-8A03-10C6-858D-6F02F4356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A72D-AF29-4C49-BB1A-7DA765D50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7397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41E0FF-B6D4-EB1F-AF49-93359F76E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FB2A8E-A868-D33C-5BC6-9CA615EEC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11C7BC-64E7-B41B-B2FA-402930B6D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1852B-0032-45FC-AD49-3CB736C42046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CA1AB1-D267-1550-2947-FB6FE5E20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8F0BDE-95CD-E877-AA53-2313D2DB4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A72D-AF29-4C49-BB1A-7DA765D50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6294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8B129-A5B1-069E-D457-88B932172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A4EE60-F924-A6AB-6F15-B739EF952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B7C6598-3827-DEEE-0ADF-785163A31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9A7D05-D405-DDFE-F8E9-12A8C1627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1852B-0032-45FC-AD49-3CB736C42046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7E866F-BBAC-61FB-5A00-E09F9D840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24087E-C415-55DC-8439-CB50CAFA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A72D-AF29-4C49-BB1A-7DA765D50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1115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C3B980-9D79-45F3-0110-7A8556DFA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24098CF-4655-3EFD-B572-7B3775248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E70964-60CB-61BD-E41D-C37CB2BDBE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5CF1209-55AC-6984-841E-C7F2437A73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B34B2CC-905F-F817-3F48-BDF6357B77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FDD1D7A-F664-1BD3-A50D-2C949C0A8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1852B-0032-45FC-AD49-3CB736C42046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F97F0C1-6CEE-2B1B-60AC-04947D750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714FCC1-315A-3013-941F-BB05512E3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A72D-AF29-4C49-BB1A-7DA765D50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3611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6F110F-4386-8610-5B7C-451C6D048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0D741DB-1CA5-7767-7FA6-BBC89A9C6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1852B-0032-45FC-AD49-3CB736C42046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5A50590-F3F7-3B0C-6801-55AD60C20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85DE5DD-533A-F229-8BAF-4FBBA7252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A72D-AF29-4C49-BB1A-7DA765D50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912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F2D3988-BEC3-6D9A-7372-31E2AD9DA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1852B-0032-45FC-AD49-3CB736C42046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594501B-71A4-D074-E839-6C1051252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8B9848-FE4E-C727-5B98-D71D780A8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A72D-AF29-4C49-BB1A-7DA765D50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1379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A1E81B-D949-7F99-5B3B-FB7119489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5DDB67-BC87-C3D5-43AC-9FAD748B6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94E2AAA-A7BF-9650-8910-53615D5BD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9C547E5-01F7-406A-3BFD-4C3B82034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1852B-0032-45FC-AD49-3CB736C42046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44459C-4E6E-33AA-E091-D290699BB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CD5C3B-25B9-BD78-8470-14DFFC1BC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A72D-AF29-4C49-BB1A-7DA765D50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190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28023E-A584-1099-778D-00CDAC7A3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905086D-D9E0-E029-1EED-3D129609A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89773EE-1480-0233-929C-E239E8AD78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7DC81F3-574D-9903-A743-D8FA69BBC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1852B-0032-45FC-AD49-3CB736C42046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1E84DE2-BFC8-A00C-B651-D8E5BC67B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B368BB-3EF9-62D9-87CB-90EE3B375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A72D-AF29-4C49-BB1A-7DA765D50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0166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9653A2-D1D9-230F-E0CB-ABEE671C7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44655A0-3F29-AD54-01E2-0AF806578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79BB2D-139D-04B4-4F46-EA5933F49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1852B-0032-45FC-AD49-3CB736C42046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745961-E65C-529D-5723-5768F5E97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2ADAAD-5CB6-22C7-7345-4C067CC68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A72D-AF29-4C49-BB1A-7DA765D50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246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602DD8C-3269-60B8-1367-4170FFDB64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6C3884-60D7-C226-2B66-D340FCFE0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DB0659-F793-9394-24CA-C49656125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1852B-0032-45FC-AD49-3CB736C42046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8868FF-1EBA-37F2-4BDA-560D0C872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8F3B13-B9CA-BCBA-DD0B-32F1DB48E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A72D-AF29-4C49-BB1A-7DA765D50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021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439CFD-E52A-D865-C217-0C5B993F7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5A4FA0E-93A3-E7EF-7AD8-4407878F1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ACCFC7-2096-1287-ACA3-50A3896125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1852B-0032-45FC-AD49-3CB736C42046}" type="datetimeFigureOut">
              <a:rPr lang="ru-RU" smtClean="0"/>
              <a:t>27.10.2025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3CA3A8-1EA6-939B-9A25-79E194A688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4EDF66-EA97-1FF6-79A8-F52930D30A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5A72D-AF29-4C49-BB1A-7DA765D50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1666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AB4259-3EB1-61AD-6426-A722DAFF7F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  <a:ln>
            <a:solidFill>
              <a:schemeClr val="accent3"/>
            </a:solidFill>
          </a:ln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Психологическое время в контексте жизненного пути человека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6BBD5DE-5479-4452-5473-46460B70F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51639" y="3769187"/>
            <a:ext cx="4316361" cy="1166607"/>
          </a:xfrm>
          <a:ln>
            <a:noFill/>
          </a:ln>
        </p:spPr>
        <p:txBody>
          <a:bodyPr/>
          <a:lstStyle/>
          <a:p>
            <a:pPr algn="r"/>
            <a:r>
              <a:rPr lang="ru-RU" dirty="0">
                <a:latin typeface="Century Schoolbook" panose="02040604050505020304" pitchFamily="18" charset="0"/>
              </a:rPr>
              <a:t>Гусев Виталий Евгеньевич,</a:t>
            </a:r>
          </a:p>
          <a:p>
            <a:pPr algn="r"/>
            <a:r>
              <a:rPr lang="ru-RU" dirty="0">
                <a:latin typeface="Century Schoolbook" panose="02040604050505020304" pitchFamily="18" charset="0"/>
              </a:rPr>
              <a:t>2.3.5</a:t>
            </a:r>
          </a:p>
          <a:p>
            <a:pPr algn="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210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D46E83-7D9E-D75F-38E2-94236D5CD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ln>
            <a:solidFill>
              <a:schemeClr val="accent3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Философские и научные основы концепции времени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D814C2-DA49-1918-677F-E2E077D28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b="1" dirty="0">
              <a:latin typeface="Century Schoolbook" panose="02040604050505020304" pitchFamily="18" charset="0"/>
            </a:endParaRPr>
          </a:p>
          <a:p>
            <a:r>
              <a:rPr lang="ru-RU" b="1" dirty="0">
                <a:latin typeface="Century Schoolbook" panose="02040604050505020304" pitchFamily="18" charset="0"/>
              </a:rPr>
              <a:t>Объективное время </a:t>
            </a:r>
            <a:r>
              <a:rPr lang="ru-RU" dirty="0">
                <a:latin typeface="Century Schoolbook" panose="02040604050505020304" pitchFamily="18" charset="0"/>
              </a:rPr>
              <a:t>— измеримая физическая величина, непрерывная и универсальная. </a:t>
            </a:r>
          </a:p>
          <a:p>
            <a:endParaRPr lang="ru-RU" dirty="0">
              <a:latin typeface="Century Schoolbook" panose="02040604050505020304" pitchFamily="18" charset="0"/>
            </a:endParaRPr>
          </a:p>
          <a:p>
            <a:r>
              <a:rPr lang="ru-RU" b="1" dirty="0">
                <a:latin typeface="Century Schoolbook" panose="02040604050505020304" pitchFamily="18" charset="0"/>
              </a:rPr>
              <a:t>Психологическое время </a:t>
            </a:r>
            <a:r>
              <a:rPr lang="ru-RU" dirty="0">
                <a:latin typeface="Century Schoolbook" panose="02040604050505020304" pitchFamily="18" charset="0"/>
              </a:rPr>
              <a:t>формируется сознанием и меняется в зависимости от культурных особенностей общества.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1476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A31C8B-9F44-CFB8-40F8-ACB69A7F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65125"/>
            <a:ext cx="12191997" cy="1325563"/>
          </a:xfrm>
          <a:ln>
            <a:solidFill>
              <a:schemeClr val="accent3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Культурное и лингвистическое разнообразие восприятия времени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387FA565-8CA1-8EF6-EAF9-F1EFDAD291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694471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entury Schoolbook" panose="02040604050505020304" pitchFamily="18" charset="0"/>
              </a:rPr>
              <a:t>В </a:t>
            </a:r>
            <a:r>
              <a:rPr lang="ru-RU" b="1" i="1" dirty="0">
                <a:latin typeface="Century Schoolbook" panose="02040604050505020304" pitchFamily="18" charset="0"/>
              </a:rPr>
              <a:t>европейских культурах </a:t>
            </a:r>
            <a:r>
              <a:rPr lang="ru-RU" dirty="0">
                <a:latin typeface="Century Schoolbook" panose="02040604050505020304" pitchFamily="18" charset="0"/>
              </a:rPr>
              <a:t>время воспринимается как последовательная линия — от прошлого к будущему. Эта модель формирует привычные представления о планировании и развитии событий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936D19FA-8AC0-816E-E6C1-E6107F91B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16692" y="1842115"/>
            <a:ext cx="3694471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entury Schoolbook" panose="02040604050505020304" pitchFamily="18" charset="0"/>
              </a:rPr>
              <a:t>У </a:t>
            </a:r>
            <a:r>
              <a:rPr lang="ru-RU" b="1" i="1" dirty="0">
                <a:latin typeface="Century Schoolbook" panose="02040604050505020304" pitchFamily="18" charset="0"/>
              </a:rPr>
              <a:t>народа аймара </a:t>
            </a:r>
            <a:r>
              <a:rPr lang="ru-RU" dirty="0">
                <a:latin typeface="Century Schoolbook" panose="02040604050505020304" pitchFamily="18" charset="0"/>
              </a:rPr>
              <a:t>прошлое воспринимается как пространство впереди — именно туда смотрят, чтобы видеть уже прожитые события. Это противопоставляется западному восприятию.</a:t>
            </a:r>
          </a:p>
          <a:p>
            <a:endParaRPr lang="ru-RU" dirty="0"/>
          </a:p>
        </p:txBody>
      </p:sp>
      <p:sp>
        <p:nvSpPr>
          <p:cNvPr id="12" name="Объект 8">
            <a:extLst>
              <a:ext uri="{FF2B5EF4-FFF2-40B4-BE49-F238E27FC236}">
                <a16:creationId xmlns:a16="http://schemas.microsoft.com/office/drawing/2014/main" id="{04564A50-7458-AE72-9883-7A09A95E5204}"/>
              </a:ext>
            </a:extLst>
          </p:cNvPr>
          <p:cNvSpPr txBox="1">
            <a:spLocks/>
          </p:cNvSpPr>
          <p:nvPr/>
        </p:nvSpPr>
        <p:spPr>
          <a:xfrm>
            <a:off x="6363929" y="2312322"/>
            <a:ext cx="36944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4" name="Объект 8">
            <a:extLst>
              <a:ext uri="{FF2B5EF4-FFF2-40B4-BE49-F238E27FC236}">
                <a16:creationId xmlns:a16="http://schemas.microsoft.com/office/drawing/2014/main" id="{130460F0-6460-08E7-D587-5ED6C3C093EB}"/>
              </a:ext>
            </a:extLst>
          </p:cNvPr>
          <p:cNvSpPr txBox="1">
            <a:spLocks/>
          </p:cNvSpPr>
          <p:nvPr/>
        </p:nvSpPr>
        <p:spPr>
          <a:xfrm>
            <a:off x="8211164" y="1825625"/>
            <a:ext cx="36944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latin typeface="Century Schoolbook" panose="02040604050505020304" pitchFamily="18" charset="0"/>
              </a:rPr>
              <a:t>Англоговорящие</a:t>
            </a:r>
            <a:r>
              <a:rPr lang="ru-RU" dirty="0">
                <a:latin typeface="Century Schoolbook" panose="02040604050505020304" pitchFamily="18" charset="0"/>
              </a:rPr>
              <a:t> оценивают «</a:t>
            </a:r>
            <a:r>
              <a:rPr lang="ru-RU" dirty="0" err="1">
                <a:latin typeface="Century Schoolbook" panose="02040604050505020304" pitchFamily="18" charset="0"/>
              </a:rPr>
              <a:t>long</a:t>
            </a:r>
            <a:r>
              <a:rPr lang="ru-RU" dirty="0">
                <a:latin typeface="Century Schoolbook" panose="02040604050505020304" pitchFamily="18" charset="0"/>
              </a:rPr>
              <a:t> </a:t>
            </a:r>
            <a:r>
              <a:rPr lang="ru-RU" dirty="0" err="1">
                <a:latin typeface="Century Schoolbook" panose="02040604050505020304" pitchFamily="18" charset="0"/>
              </a:rPr>
              <a:t>time</a:t>
            </a:r>
            <a:r>
              <a:rPr lang="ru-RU" dirty="0">
                <a:latin typeface="Century Schoolbook" panose="02040604050505020304" pitchFamily="18" charset="0"/>
              </a:rPr>
              <a:t>» (продолжительное время) и </a:t>
            </a:r>
            <a:r>
              <a:rPr lang="ru-RU" b="1" dirty="0">
                <a:latin typeface="Century Schoolbook" panose="02040604050505020304" pitchFamily="18" charset="0"/>
              </a:rPr>
              <a:t>испаноговорящие </a:t>
            </a:r>
            <a:r>
              <a:rPr lang="ru-RU" dirty="0">
                <a:latin typeface="Century Schoolbook" panose="02040604050505020304" pitchFamily="18" charset="0"/>
              </a:rPr>
              <a:t>«</a:t>
            </a:r>
            <a:r>
              <a:rPr lang="ru-RU" dirty="0" err="1">
                <a:latin typeface="Century Schoolbook" panose="02040604050505020304" pitchFamily="18" charset="0"/>
              </a:rPr>
              <a:t>much</a:t>
            </a:r>
            <a:r>
              <a:rPr lang="ru-RU" dirty="0">
                <a:latin typeface="Century Schoolbook" panose="02040604050505020304" pitchFamily="18" charset="0"/>
              </a:rPr>
              <a:t> </a:t>
            </a:r>
            <a:r>
              <a:rPr lang="ru-RU" dirty="0" err="1">
                <a:latin typeface="Century Schoolbook" panose="02040604050505020304" pitchFamily="18" charset="0"/>
              </a:rPr>
              <a:t>time</a:t>
            </a:r>
            <a:r>
              <a:rPr lang="ru-RU" dirty="0">
                <a:latin typeface="Century Schoolbook" panose="02040604050505020304" pitchFamily="18" charset="0"/>
              </a:rPr>
              <a:t>» (много времени) по-разному, влияя на когнитивную оценку задач и планов.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0FED613C-C5FD-DB3A-8CC0-9F75C69685ED}"/>
              </a:ext>
            </a:extLst>
          </p:cNvPr>
          <p:cNvCxnSpPr>
            <a:cxnSpLocks/>
          </p:cNvCxnSpPr>
          <p:nvPr/>
        </p:nvCxnSpPr>
        <p:spPr>
          <a:xfrm>
            <a:off x="4516692" y="1825625"/>
            <a:ext cx="0" cy="4346318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DD04A563-9D4B-9A71-E777-8AC5DF3D829E}"/>
              </a:ext>
            </a:extLst>
          </p:cNvPr>
          <p:cNvCxnSpPr>
            <a:cxnSpLocks/>
          </p:cNvCxnSpPr>
          <p:nvPr/>
        </p:nvCxnSpPr>
        <p:spPr>
          <a:xfrm>
            <a:off x="8211164" y="1825625"/>
            <a:ext cx="0" cy="434631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957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DD512D70-C690-F82E-16B9-91AFAA0AFA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858464"/>
              </p:ext>
            </p:extLst>
          </p:nvPr>
        </p:nvGraphicFramePr>
        <p:xfrm>
          <a:off x="127820" y="1543665"/>
          <a:ext cx="11965858" cy="5181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3D4D818-F1CF-60C4-61E9-1D8E2A846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ln>
            <a:solidFill>
              <a:schemeClr val="accent3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Этапы развития временной перспективы личности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0D82691-4972-4B26-434B-539919517970}"/>
              </a:ext>
            </a:extLst>
          </p:cNvPr>
          <p:cNvCxnSpPr/>
          <p:nvPr/>
        </p:nvCxnSpPr>
        <p:spPr>
          <a:xfrm>
            <a:off x="422787" y="2153264"/>
            <a:ext cx="25465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9A30A52-3DA4-0C99-02CB-5EA84631F03F}"/>
              </a:ext>
            </a:extLst>
          </p:cNvPr>
          <p:cNvCxnSpPr/>
          <p:nvPr/>
        </p:nvCxnSpPr>
        <p:spPr>
          <a:xfrm>
            <a:off x="5515897" y="2227007"/>
            <a:ext cx="25465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C879E96A-14B0-3D78-CB6A-B703CF359B1E}"/>
              </a:ext>
            </a:extLst>
          </p:cNvPr>
          <p:cNvCxnSpPr/>
          <p:nvPr/>
        </p:nvCxnSpPr>
        <p:spPr>
          <a:xfrm>
            <a:off x="3102077" y="5098025"/>
            <a:ext cx="25465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C5B3084-A454-F648-BE20-0E94B8F723DA}"/>
              </a:ext>
            </a:extLst>
          </p:cNvPr>
          <p:cNvCxnSpPr/>
          <p:nvPr/>
        </p:nvCxnSpPr>
        <p:spPr>
          <a:xfrm>
            <a:off x="8283678" y="5093108"/>
            <a:ext cx="254655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153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F7EEBC-2E9A-5495-47D6-A9A1553C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ln>
            <a:solidFill>
              <a:schemeClr val="accent3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Экзистенциальное восприятие времени и развитие личности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2536DF-6AC7-F82C-9E72-C9A18E849E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7084" y="1825625"/>
            <a:ext cx="5338916" cy="2476859"/>
          </a:xfrm>
          <a:solidFill>
            <a:schemeClr val="accent3">
              <a:alpha val="50000"/>
            </a:schemeClr>
          </a:solidFill>
          <a:ln w="127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buNone/>
            </a:pPr>
            <a:r>
              <a:rPr lang="ru-RU" dirty="0">
                <a:latin typeface="Century Schoolbook" panose="02040604050505020304" pitchFamily="18" charset="0"/>
              </a:rPr>
              <a:t>Повышение осознания конечности времени способствует активизации жизненных приоритетов и усиливает временную компетентность.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9106A48-5AD7-16D6-C2C2-E8BE5175E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6664" y="4302484"/>
            <a:ext cx="5181600" cy="1874479"/>
          </a:xfrm>
          <a:solidFill>
            <a:schemeClr val="accent1">
              <a:alpha val="50000"/>
            </a:schemeClr>
          </a:solidFill>
          <a:ln w="127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buNone/>
            </a:pPr>
            <a:r>
              <a:rPr lang="ru-RU" dirty="0">
                <a:latin typeface="Century Schoolbook" panose="02040604050505020304" pitchFamily="18" charset="0"/>
              </a:rPr>
              <a:t>Чем выше осознание конечности жизни, тем зрелее и целенаправленнее личностное развитие.</a:t>
            </a:r>
          </a:p>
          <a:p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5919CF0-CC4C-3EF1-B5BF-13A4F0969D6D}"/>
              </a:ext>
            </a:extLst>
          </p:cNvPr>
          <p:cNvSpPr/>
          <p:nvPr/>
        </p:nvSpPr>
        <p:spPr>
          <a:xfrm>
            <a:off x="757084" y="1825625"/>
            <a:ext cx="5338916" cy="24768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8DE8BB5-7820-B7AC-C7A5-A739C435E64E}"/>
              </a:ext>
            </a:extLst>
          </p:cNvPr>
          <p:cNvSpPr/>
          <p:nvPr/>
        </p:nvSpPr>
        <p:spPr>
          <a:xfrm>
            <a:off x="6489290" y="4302484"/>
            <a:ext cx="5191433" cy="18623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384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301E95-3C7F-10CD-D47A-84CC88BA6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ln>
            <a:solidFill>
              <a:schemeClr val="accent3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Психотерапия и работа с временной перспективой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06705E-7FDB-D573-E4BD-6451C8B2AC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3419166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latin typeface="Century Schoolbook" panose="02040604050505020304" pitchFamily="18" charset="0"/>
              </a:rPr>
              <a:t>Возрастная регрессия </a:t>
            </a:r>
            <a:r>
              <a:rPr lang="ru-RU" dirty="0">
                <a:latin typeface="Century Schoolbook" panose="02040604050505020304" pitchFamily="18" charset="0"/>
              </a:rPr>
              <a:t>помогает пациентам осознать и переработать значимые прошлые события, улучшая связь с настоящим.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1D009CB-B174-D255-92B8-0D3883C76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54013" y="1843394"/>
            <a:ext cx="3480620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latin typeface="Century Schoolbook" panose="02040604050505020304" pitchFamily="18" charset="0"/>
              </a:rPr>
              <a:t>Гештальт-терапия </a:t>
            </a:r>
            <a:r>
              <a:rPr lang="ru-RU" dirty="0">
                <a:latin typeface="Century Schoolbook" panose="02040604050505020304" pitchFamily="18" charset="0"/>
              </a:rPr>
              <a:t>фокусируется на здесь-и-сейчас, стимулируя осознание текущего момента и перспективы будущего.</a:t>
            </a:r>
          </a:p>
          <a:p>
            <a:endParaRPr lang="ru-RU" dirty="0"/>
          </a:p>
        </p:txBody>
      </p:sp>
      <p:sp>
        <p:nvSpPr>
          <p:cNvPr id="5" name="Объект 3">
            <a:extLst>
              <a:ext uri="{FF2B5EF4-FFF2-40B4-BE49-F238E27FC236}">
                <a16:creationId xmlns:a16="http://schemas.microsoft.com/office/drawing/2014/main" id="{554F45D5-B5A1-6713-B082-C80B3103713F}"/>
              </a:ext>
            </a:extLst>
          </p:cNvPr>
          <p:cNvSpPr txBox="1">
            <a:spLocks/>
          </p:cNvSpPr>
          <p:nvPr/>
        </p:nvSpPr>
        <p:spPr>
          <a:xfrm>
            <a:off x="8337754" y="1825625"/>
            <a:ext cx="38542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latin typeface="Century Schoolbook" panose="02040604050505020304" pitchFamily="18" charset="0"/>
              </a:rPr>
              <a:t>Психодрама</a:t>
            </a:r>
            <a:r>
              <a:rPr lang="ru-RU" dirty="0">
                <a:latin typeface="Century Schoolbook" panose="02040604050505020304" pitchFamily="18" charset="0"/>
              </a:rPr>
              <a:t> позволяет прожить альтернативные сценарии обсуждаемых ситуаций, трансформируя временную структуру восприятия.</a:t>
            </a:r>
          </a:p>
          <a:p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F9C446BE-878E-354A-E6FE-46BF638F6942}"/>
              </a:ext>
            </a:extLst>
          </p:cNvPr>
          <p:cNvCxnSpPr>
            <a:cxnSpLocks/>
          </p:cNvCxnSpPr>
          <p:nvPr/>
        </p:nvCxnSpPr>
        <p:spPr>
          <a:xfrm>
            <a:off x="4257367" y="1830645"/>
            <a:ext cx="0" cy="4346318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3DDF3BA3-E223-3EF2-5C8E-437CF05BF97E}"/>
              </a:ext>
            </a:extLst>
          </p:cNvPr>
          <p:cNvCxnSpPr>
            <a:cxnSpLocks/>
          </p:cNvCxnSpPr>
          <p:nvPr/>
        </p:nvCxnSpPr>
        <p:spPr>
          <a:xfrm>
            <a:off x="8224683" y="1825625"/>
            <a:ext cx="0" cy="4346318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446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4B0CC6-454A-A3C9-D4BF-68BF0648D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ln>
            <a:solidFill>
              <a:schemeClr val="accent3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Влияние психопатологии на восприятие времени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3F4E9C-8D66-920F-3788-9EFA674DE6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5809" y="1825625"/>
            <a:ext cx="3578939" cy="4351338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ru-RU" b="1" dirty="0">
                <a:latin typeface="Century Schoolbook" panose="02040604050505020304" pitchFamily="18" charset="0"/>
              </a:rPr>
              <a:t>Депрессия и ощущение застоя</a:t>
            </a:r>
          </a:p>
          <a:p>
            <a:pPr marL="0" indent="0" algn="ctr">
              <a:buNone/>
            </a:pPr>
            <a:endParaRPr lang="ru-RU" b="1" dirty="0"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entury Schoolbook" panose="02040604050505020304" pitchFamily="18" charset="0"/>
              </a:rPr>
              <a:t>При депрессии замедляется субъективное время, возникает чувство безысходности и застойности, что ухудшает мотивацию и восприятие жизни.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7B6F8F-67DC-CF8C-75BA-6D98AB0E7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61617" y="1825625"/>
            <a:ext cx="3758381" cy="4351338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ru-RU" b="1" dirty="0">
                <a:latin typeface="Century Schoolbook" panose="02040604050505020304" pitchFamily="18" charset="0"/>
              </a:rPr>
              <a:t>Мания и ускорение временного потока</a:t>
            </a:r>
          </a:p>
          <a:p>
            <a:pPr marL="0" indent="0">
              <a:buNone/>
            </a:pPr>
            <a:endParaRPr lang="ru-RU" dirty="0"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entury Schoolbook" panose="02040604050505020304" pitchFamily="18" charset="0"/>
              </a:rPr>
              <a:t>В маниакальном состоянии человек ощущает чрезмерное ускорение времени, затрудняя концентрацию и осознанное планирование.</a:t>
            </a:r>
          </a:p>
          <a:p>
            <a:endParaRPr lang="ru-RU" dirty="0"/>
          </a:p>
        </p:txBody>
      </p:sp>
      <p:sp>
        <p:nvSpPr>
          <p:cNvPr id="5" name="Объект 3">
            <a:extLst>
              <a:ext uri="{FF2B5EF4-FFF2-40B4-BE49-F238E27FC236}">
                <a16:creationId xmlns:a16="http://schemas.microsoft.com/office/drawing/2014/main" id="{C61EE90D-4FDB-18A3-F96E-315A066D3A16}"/>
              </a:ext>
            </a:extLst>
          </p:cNvPr>
          <p:cNvSpPr txBox="1">
            <a:spLocks/>
          </p:cNvSpPr>
          <p:nvPr/>
        </p:nvSpPr>
        <p:spPr>
          <a:xfrm>
            <a:off x="7755195" y="1825625"/>
            <a:ext cx="4358144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>
                <a:latin typeface="Century Schoolbook" panose="02040604050505020304" pitchFamily="18" charset="0"/>
              </a:rPr>
              <a:t>Травмы и нарушение связности времени</a:t>
            </a:r>
          </a:p>
          <a:p>
            <a:pPr marL="0" indent="0" algn="ctr">
              <a:buNone/>
            </a:pPr>
            <a:endParaRPr lang="ru-RU" b="1" dirty="0"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entury Schoolbook" panose="02040604050505020304" pitchFamily="18" charset="0"/>
              </a:rPr>
              <a:t>Психологические травмы вызывают фрагментацию опыта, нарушая целостность восприятия временного потока и приводя к эмоциональным расстройствам.</a:t>
            </a:r>
          </a:p>
          <a:p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7A5C2EE-BDDD-4089-48D2-35A7F446171F}"/>
              </a:ext>
            </a:extLst>
          </p:cNvPr>
          <p:cNvCxnSpPr>
            <a:cxnSpLocks/>
          </p:cNvCxnSpPr>
          <p:nvPr/>
        </p:nvCxnSpPr>
        <p:spPr>
          <a:xfrm>
            <a:off x="3834579" y="1825625"/>
            <a:ext cx="0" cy="4346318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41CE6A0C-4DF8-78C4-DA2C-FBC6B5A11C46}"/>
              </a:ext>
            </a:extLst>
          </p:cNvPr>
          <p:cNvCxnSpPr>
            <a:cxnSpLocks/>
          </p:cNvCxnSpPr>
          <p:nvPr/>
        </p:nvCxnSpPr>
        <p:spPr>
          <a:xfrm>
            <a:off x="7755196" y="1825625"/>
            <a:ext cx="0" cy="4346318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526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E0FCE8-C822-1371-E0A4-1C6662339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ln>
            <a:solidFill>
              <a:schemeClr val="accent3"/>
            </a:solidFill>
          </a:ln>
        </p:spPr>
        <p:txBody>
          <a:bodyPr/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Психологическое время и жизненный путь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74A471-92FE-80BE-FF46-5EBC48C07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b="1" i="1" dirty="0">
              <a:latin typeface="Century Schoolbook" panose="02040604050505020304" pitchFamily="18" charset="0"/>
            </a:endParaRPr>
          </a:p>
          <a:p>
            <a:r>
              <a:rPr lang="ru-RU" b="1" dirty="0" err="1">
                <a:latin typeface="Century Schoolbook" panose="02040604050505020304" pitchFamily="18" charset="0"/>
              </a:rPr>
              <a:t>Каузометрия</a:t>
            </a:r>
            <a:r>
              <a:rPr lang="ru-RU" b="1" i="1" dirty="0">
                <a:latin typeface="Century Schoolbook" panose="02040604050505020304" pitchFamily="18" charset="0"/>
              </a:rPr>
              <a:t> </a:t>
            </a:r>
            <a:r>
              <a:rPr lang="ru-RU" dirty="0">
                <a:latin typeface="Century Schoolbook" panose="02040604050505020304" pitchFamily="18" charset="0"/>
              </a:rPr>
              <a:t>— метод анализа причинно-целевых связей между событиями жизненного пути — служит инструментом для выявления биографических кризисов и развития личностной субъектности</a:t>
            </a:r>
          </a:p>
        </p:txBody>
      </p:sp>
    </p:spTree>
    <p:extLst>
      <p:ext uri="{BB962C8B-B14F-4D97-AF65-F5344CB8AC3E}">
        <p14:creationId xmlns:p14="http://schemas.microsoft.com/office/powerpoint/2010/main" val="2860263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52D7D1-06CF-6B0F-4546-FB7D8E5FC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ln>
            <a:solidFill>
              <a:schemeClr val="accent3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Психологическое время как фактор развития личности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6B5A30-EC8E-F9AE-D53A-F6BE12E49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018219"/>
            <a:ext cx="4854677" cy="1684491"/>
          </a:xfrm>
          <a:solidFill>
            <a:schemeClr val="accent2">
              <a:alpha val="50000"/>
            </a:schemeClr>
          </a:solidFill>
          <a:ln w="127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entury Schoolbook" panose="02040604050505020304" pitchFamily="18" charset="0"/>
              </a:rPr>
              <a:t>Осознание ограниченности времени мотивирует к постановке и достижению значимых целей.</a:t>
            </a:r>
          </a:p>
          <a:p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3C9C944-F3A5-0891-25A2-C2A81318B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852" y="2091096"/>
            <a:ext cx="5181600" cy="1822143"/>
          </a:xfrm>
          <a:solidFill>
            <a:schemeClr val="accent3">
              <a:alpha val="50000"/>
            </a:schemeClr>
          </a:solidFill>
          <a:ln w="127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entury Schoolbook" panose="02040604050505020304" pitchFamily="18" charset="0"/>
              </a:rPr>
              <a:t>Навыки управления временем способствуют самодисциплине и эффективной регуляции поведения.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7591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7A8B44D-73FC-7E5A-B29D-65768A220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69903768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ранжевый и красный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396</Words>
  <Application>Microsoft Office PowerPoint</Application>
  <PresentationFormat>Широкоэкранный</PresentationFormat>
  <Paragraphs>48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Century Schoolbook</vt:lpstr>
      <vt:lpstr>Тема Office</vt:lpstr>
      <vt:lpstr>Психологическое время в контексте жизненного пути человека</vt:lpstr>
      <vt:lpstr>Философские и научные основы концепции времени</vt:lpstr>
      <vt:lpstr>Культурное и лингвистическое разнообразие восприятия времени</vt:lpstr>
      <vt:lpstr>Этапы развития временной перспективы личности</vt:lpstr>
      <vt:lpstr>Экзистенциальное восприятие времени и развитие личности</vt:lpstr>
      <vt:lpstr>Психотерапия и работа с временной перспективой</vt:lpstr>
      <vt:lpstr>Влияние психопатологии на восприятие времени</vt:lpstr>
      <vt:lpstr>Психологическое время и жизненный путь</vt:lpstr>
      <vt:lpstr>Психологическое время как фактор развития личности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Эльвира Гайнутдинова</dc:creator>
  <cp:lastModifiedBy>Эльвира Гайнутдинова</cp:lastModifiedBy>
  <cp:revision>3</cp:revision>
  <dcterms:created xsi:type="dcterms:W3CDTF">2025-10-27T17:15:03Z</dcterms:created>
  <dcterms:modified xsi:type="dcterms:W3CDTF">2025-10-27T19:07:23Z</dcterms:modified>
</cp:coreProperties>
</file>